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4"/>
  </p:sldMasterIdLst>
  <p:notesMasterIdLst>
    <p:notesMasterId r:id="rId28"/>
  </p:notesMasterIdLst>
  <p:sldIdLst>
    <p:sldId id="256" r:id="rId5"/>
    <p:sldId id="257" r:id="rId6"/>
    <p:sldId id="268" r:id="rId7"/>
    <p:sldId id="269" r:id="rId8"/>
    <p:sldId id="258" r:id="rId9"/>
    <p:sldId id="265" r:id="rId10"/>
    <p:sldId id="259" r:id="rId11"/>
    <p:sldId id="260" r:id="rId12"/>
    <p:sldId id="261" r:id="rId13"/>
    <p:sldId id="262" r:id="rId14"/>
    <p:sldId id="263" r:id="rId15"/>
    <p:sldId id="264" r:id="rId16"/>
    <p:sldId id="271" r:id="rId17"/>
    <p:sldId id="280" r:id="rId18"/>
    <p:sldId id="270" r:id="rId19"/>
    <p:sldId id="273" r:id="rId20"/>
    <p:sldId id="274" r:id="rId21"/>
    <p:sldId id="277" r:id="rId22"/>
    <p:sldId id="278" r:id="rId23"/>
    <p:sldId id="279" r:id="rId24"/>
    <p:sldId id="266" r:id="rId25"/>
    <p:sldId id="267" r:id="rId26"/>
    <p:sldId id="272"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F1E7"/>
    <a:srgbClr val="FBE1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45" d="100"/>
          <a:sy n="45" d="100"/>
        </p:scale>
        <p:origin x="278"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A5216-ACD6-4A9E-8779-024E1EC8137E}" type="datetimeFigureOut">
              <a:rPr kumimoji="1" lang="ja-JP" altLang="en-US" smtClean="0"/>
              <a:t>2026/5/28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BFD5F0-C2C8-48CF-8E76-BBA5312CDAE0}" type="slidenum">
              <a:rPr kumimoji="1" lang="ja-JP" altLang="en-US" smtClean="0"/>
              <a:t>‹#›</a:t>
            </a:fld>
            <a:endParaRPr kumimoji="1" lang="ja-JP" altLang="en-US"/>
          </a:p>
        </p:txBody>
      </p:sp>
    </p:spTree>
    <p:extLst>
      <p:ext uri="{BB962C8B-B14F-4D97-AF65-F5344CB8AC3E}">
        <p14:creationId xmlns:p14="http://schemas.microsoft.com/office/powerpoint/2010/main" val="190237170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2CBFD5F0-C2C8-48CF-8E76-BBA5312CDAE0}" type="slidenum">
              <a:rPr kumimoji="1" lang="ja-JP" altLang="en-US" smtClean="0"/>
              <a:t>19</a:t>
            </a:fld>
            <a:endParaRPr kumimoji="1" lang="ja-JP" altLang="en-US"/>
          </a:p>
        </p:txBody>
      </p:sp>
    </p:spTree>
    <p:extLst>
      <p:ext uri="{BB962C8B-B14F-4D97-AF65-F5344CB8AC3E}">
        <p14:creationId xmlns:p14="http://schemas.microsoft.com/office/powerpoint/2010/main" val="870634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5/28/2026</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4293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5/28/2026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360013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5/28/2026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255892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5/28/2026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926343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5/28/2026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144959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5/28/2026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651736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5/28/2026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315364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5/28/2026</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38837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5/28/2026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10424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5/28/2026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063237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5/28/2026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538972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lIns="109728" tIns="109728" rIns="109728" bIns="91440" anchor="ct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lIns="109728" tIns="109728" rIns="109728" b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lIns="109728" tIns="109728" rIns="109728" bIns="91440" anchor="ctr"/>
          <a:lstStyle>
            <a:lvl1pPr algn="l">
              <a:defRPr sz="1200" spc="100">
                <a:solidFill>
                  <a:schemeClr val="tx1">
                    <a:tint val="75000"/>
                  </a:schemeClr>
                </a:solidFill>
              </a:defRPr>
            </a:lvl1pPr>
          </a:lstStyle>
          <a:p>
            <a:fld id="{02AC24A9-CCB6-4F8D-B8DB-C2F3692CFA5A}" type="datetimeFigureOut">
              <a:rPr lang="en-US" smtClean="0"/>
              <a:t>5/28/2026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lIns="109728" tIns="109728" rIns="109728" bIns="91440" anchor="ctr"/>
          <a:lstStyle>
            <a:lvl1pPr algn="ctr">
              <a:defRPr sz="1200" spc="1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lIns="109728" tIns="109728" rIns="109728" bIns="91440" anchor="ctr"/>
          <a:lstStyle>
            <a:lvl1pPr algn="r">
              <a:defRPr sz="1200" spc="1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651723944"/>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75" r:id="rId6"/>
    <p:sldLayoutId id="2147483771" r:id="rId7"/>
    <p:sldLayoutId id="2147483772" r:id="rId8"/>
    <p:sldLayoutId id="2147483773" r:id="rId9"/>
    <p:sldLayoutId id="2147483774" r:id="rId10"/>
    <p:sldLayoutId id="2147483776" r:id="rId11"/>
  </p:sldLayoutIdLst>
  <p:txStyles>
    <p:titleStyle>
      <a:lvl1pPr algn="l" defTabSz="914400" rtl="0" eaLnBrk="1" latinLnBrk="0" hangingPunct="1">
        <a:lnSpc>
          <a:spcPct val="105000"/>
        </a:lnSpc>
        <a:spcBef>
          <a:spcPct val="0"/>
        </a:spcBef>
        <a:buNone/>
        <a:defRPr sz="4400" kern="1200" spc="18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600" kern="1200" spc="15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200" kern="1200" spc="15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kern="1200" spc="15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spc="15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spc="15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5666830-9A19-4E01-8505-D6C7F9AC5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FF5DC93-5F47-47FE-0F35-22CF5274A098}"/>
              </a:ext>
            </a:extLst>
          </p:cNvPr>
          <p:cNvPicPr>
            <a:picLocks noChangeAspect="1"/>
          </p:cNvPicPr>
          <p:nvPr/>
        </p:nvPicPr>
        <p:blipFill>
          <a:blip r:embed="rId2"/>
          <a:srcRect l="11615"/>
          <a:stretch>
            <a:fillRect/>
          </a:stretch>
        </p:blipFill>
        <p:spPr>
          <a:xfrm>
            <a:off x="4110127" y="10"/>
            <a:ext cx="8081873" cy="6857990"/>
          </a:xfrm>
          <a:custGeom>
            <a:avLst/>
            <a:gdLst/>
            <a:ahLst/>
            <a:cxnLst/>
            <a:rect l="l" t="t" r="r" b="b"/>
            <a:pathLst>
              <a:path w="8081873" h="6858000">
                <a:moveTo>
                  <a:pt x="0" y="0"/>
                </a:moveTo>
                <a:lnTo>
                  <a:pt x="8081873" y="0"/>
                </a:lnTo>
                <a:lnTo>
                  <a:pt x="8081873" y="6858000"/>
                </a:lnTo>
                <a:lnTo>
                  <a:pt x="0" y="6858000"/>
                </a:lnTo>
                <a:lnTo>
                  <a:pt x="68897" y="6734633"/>
                </a:lnTo>
                <a:cubicBezTo>
                  <a:pt x="558802" y="5812845"/>
                  <a:pt x="848920" y="4668597"/>
                  <a:pt x="848920" y="3429000"/>
                </a:cubicBezTo>
                <a:cubicBezTo>
                  <a:pt x="848920" y="2189404"/>
                  <a:pt x="558802" y="1045156"/>
                  <a:pt x="68897" y="123368"/>
                </a:cubicBezTo>
                <a:close/>
              </a:path>
            </a:pathLst>
          </a:custGeom>
        </p:spPr>
      </p:pic>
      <p:sp useBgFill="1">
        <p:nvSpPr>
          <p:cNvPr id="11" name="Freeform: Shape 10">
            <a:extLst>
              <a:ext uri="{FF2B5EF4-FFF2-40B4-BE49-F238E27FC236}">
                <a16:creationId xmlns:a16="http://schemas.microsoft.com/office/drawing/2014/main" id="{AE9FC877-7FB6-4D22-9988-35420644E2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E41809D1-F12E-46BB-B804-5F209D325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タイトル 1">
            <a:extLst>
              <a:ext uri="{FF2B5EF4-FFF2-40B4-BE49-F238E27FC236}">
                <a16:creationId xmlns:a16="http://schemas.microsoft.com/office/drawing/2014/main" id="{6ECEE611-26FC-A706-DDBE-AD0FB4CA223A}"/>
              </a:ext>
            </a:extLst>
          </p:cNvPr>
          <p:cNvSpPr>
            <a:spLocks noGrp="1"/>
          </p:cNvSpPr>
          <p:nvPr>
            <p:ph type="ctrTitle"/>
          </p:nvPr>
        </p:nvSpPr>
        <p:spPr>
          <a:xfrm>
            <a:off x="477980" y="1122363"/>
            <a:ext cx="8800132" cy="3204134"/>
          </a:xfrm>
        </p:spPr>
        <p:txBody>
          <a:bodyPr anchor="b">
            <a:normAutofit/>
          </a:bodyPr>
          <a:lstStyle/>
          <a:p>
            <a:r>
              <a:rPr kumimoji="1" lang="en-US" altLang="ja-JP" sz="4800" dirty="0"/>
              <a:t>Web</a:t>
            </a:r>
            <a:r>
              <a:rPr kumimoji="1" lang="ja-JP" altLang="en-US" sz="4800" dirty="0"/>
              <a:t>開発演習</a:t>
            </a:r>
            <a:br>
              <a:rPr kumimoji="1" lang="en-US" altLang="ja-JP" sz="4800" dirty="0"/>
            </a:br>
            <a:r>
              <a:rPr kumimoji="1" lang="ja-JP" altLang="en-US" sz="4800" dirty="0"/>
              <a:t>成果発表プレゼンテーション</a:t>
            </a:r>
          </a:p>
        </p:txBody>
      </p:sp>
      <p:sp>
        <p:nvSpPr>
          <p:cNvPr id="3" name="字幕 2">
            <a:extLst>
              <a:ext uri="{FF2B5EF4-FFF2-40B4-BE49-F238E27FC236}">
                <a16:creationId xmlns:a16="http://schemas.microsoft.com/office/drawing/2014/main" id="{50F94814-A80D-6977-6273-F11C0F3CF600}"/>
              </a:ext>
            </a:extLst>
          </p:cNvPr>
          <p:cNvSpPr>
            <a:spLocks noGrp="1"/>
          </p:cNvSpPr>
          <p:nvPr>
            <p:ph type="subTitle" idx="1"/>
          </p:nvPr>
        </p:nvSpPr>
        <p:spPr>
          <a:xfrm>
            <a:off x="477981" y="4872922"/>
            <a:ext cx="3933306" cy="1208141"/>
          </a:xfrm>
        </p:spPr>
        <p:txBody>
          <a:bodyPr>
            <a:normAutofit/>
          </a:bodyPr>
          <a:lstStyle/>
          <a:p>
            <a:r>
              <a:rPr kumimoji="1" lang="ja-JP" altLang="en-US" sz="2000" dirty="0"/>
              <a:t>ハウズ・プラン</a:t>
            </a:r>
            <a:endParaRPr kumimoji="1" lang="en-US" altLang="ja-JP" sz="2000" dirty="0"/>
          </a:p>
          <a:p>
            <a:r>
              <a:rPr kumimoji="1" lang="ja-JP" altLang="en-US" sz="2000" dirty="0"/>
              <a:t>片野 敬介</a:t>
            </a:r>
            <a:endParaRPr kumimoji="1" lang="en-US" altLang="ja-JP" sz="2000" dirty="0"/>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9566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E3251D-80B4-42F0-421A-DE41BFC20E4A}"/>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4B9EDE3A-5EF8-0DEE-EEA9-7A17647EBCD4}"/>
              </a:ext>
            </a:extLst>
          </p:cNvPr>
          <p:cNvSpPr>
            <a:spLocks noGrp="1"/>
          </p:cNvSpPr>
          <p:nvPr>
            <p:ph idx="1"/>
          </p:nvPr>
        </p:nvSpPr>
        <p:spPr/>
        <p:txBody>
          <a:bodyPr/>
          <a:lstStyle/>
          <a:p>
            <a:pPr marL="0" indent="0">
              <a:buNone/>
            </a:pPr>
            <a:r>
              <a:rPr kumimoji="1" lang="ja-JP" altLang="en-US" dirty="0"/>
              <a:t>１．開発概要</a:t>
            </a:r>
            <a:endParaRPr kumimoji="1" lang="en-US" altLang="ja-JP" dirty="0"/>
          </a:p>
          <a:p>
            <a:pPr marL="0" indent="0">
              <a:buNone/>
            </a:pPr>
            <a:r>
              <a:rPr kumimoji="1" lang="ja-JP" altLang="en-US" dirty="0"/>
              <a:t>１．開発スケジュール</a:t>
            </a:r>
            <a:endParaRPr kumimoji="1" lang="en-US" altLang="ja-JP" dirty="0"/>
          </a:p>
          <a:p>
            <a:pPr marL="0" indent="0">
              <a:buNone/>
            </a:pPr>
            <a:r>
              <a:rPr kumimoji="1" lang="ja-JP" altLang="en-US" dirty="0"/>
              <a:t>２．成果物デモンストレーション</a:t>
            </a:r>
            <a:endParaRPr kumimoji="1" lang="en-US" altLang="ja-JP" dirty="0"/>
          </a:p>
          <a:p>
            <a:pPr marL="0" indent="0">
              <a:buNone/>
            </a:pPr>
            <a:r>
              <a:rPr kumimoji="1" lang="ja-JP" altLang="en-US" dirty="0"/>
              <a:t>３．成果報告</a:t>
            </a:r>
          </a:p>
        </p:txBody>
      </p:sp>
    </p:spTree>
    <p:extLst>
      <p:ext uri="{BB962C8B-B14F-4D97-AF65-F5344CB8AC3E}">
        <p14:creationId xmlns:p14="http://schemas.microsoft.com/office/powerpoint/2010/main" val="3419147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D65717-0423-7896-B67B-E2AD213AFC5D}"/>
              </a:ext>
            </a:extLst>
          </p:cNvPr>
          <p:cNvSpPr>
            <a:spLocks noGrp="1"/>
          </p:cNvSpPr>
          <p:nvPr>
            <p:ph type="title"/>
          </p:nvPr>
        </p:nvSpPr>
        <p:spPr/>
        <p:txBody>
          <a:bodyPr/>
          <a:lstStyle/>
          <a:p>
            <a:r>
              <a:rPr kumimoji="1" lang="ja-JP" altLang="en-US" dirty="0"/>
              <a:t>開発概要</a:t>
            </a:r>
          </a:p>
        </p:txBody>
      </p:sp>
      <p:sp>
        <p:nvSpPr>
          <p:cNvPr id="3" name="コンテンツ プレースホルダー 2">
            <a:extLst>
              <a:ext uri="{FF2B5EF4-FFF2-40B4-BE49-F238E27FC236}">
                <a16:creationId xmlns:a16="http://schemas.microsoft.com/office/drawing/2014/main" id="{2FEEC1B7-54B5-53CA-EE79-6CB21A494078}"/>
              </a:ext>
            </a:extLst>
          </p:cNvPr>
          <p:cNvSpPr>
            <a:spLocks noGrp="1"/>
          </p:cNvSpPr>
          <p:nvPr>
            <p:ph idx="1"/>
          </p:nvPr>
        </p:nvSpPr>
        <p:spPr/>
        <p:txBody>
          <a:bodyPr/>
          <a:lstStyle/>
          <a:p>
            <a:pPr marL="0" indent="0">
              <a:buNone/>
            </a:pPr>
            <a:r>
              <a:rPr kumimoji="1" lang="ja-JP" altLang="en-US" dirty="0"/>
              <a:t>ウェブ上での社員情報管理システム</a:t>
            </a:r>
            <a:endParaRPr kumimoji="1" lang="en-US" altLang="ja-JP" dirty="0"/>
          </a:p>
          <a:p>
            <a:pPr marL="0" indent="0">
              <a:buNone/>
            </a:pPr>
            <a:r>
              <a:rPr kumimoji="1" lang="en-US" altLang="ja-JP" dirty="0"/>
              <a:t>1.</a:t>
            </a:r>
            <a:r>
              <a:rPr kumimoji="1" lang="ja-JP" altLang="en-US" dirty="0"/>
              <a:t>部署情報登録機能</a:t>
            </a:r>
            <a:endParaRPr kumimoji="1" lang="en-US" altLang="ja-JP" dirty="0"/>
          </a:p>
          <a:p>
            <a:pPr marL="0" indent="0">
              <a:buNone/>
            </a:pPr>
            <a:r>
              <a:rPr kumimoji="1" lang="en-US" altLang="ja-JP" dirty="0"/>
              <a:t>2.</a:t>
            </a:r>
            <a:r>
              <a:rPr kumimoji="1" lang="ja-JP" altLang="en-US" dirty="0"/>
              <a:t>部署情報一覧表示機能</a:t>
            </a:r>
            <a:endParaRPr kumimoji="1" lang="en-US" altLang="ja-JP" dirty="0"/>
          </a:p>
          <a:p>
            <a:pPr marL="0" indent="0">
              <a:buNone/>
            </a:pPr>
            <a:r>
              <a:rPr kumimoji="1" lang="en-US" altLang="ja-JP" dirty="0"/>
              <a:t>3.</a:t>
            </a:r>
            <a:r>
              <a:rPr kumimoji="1" lang="ja-JP" altLang="en-US" dirty="0"/>
              <a:t>社員情報登録機能</a:t>
            </a:r>
            <a:endParaRPr kumimoji="1" lang="en-US" altLang="ja-JP" dirty="0"/>
          </a:p>
          <a:p>
            <a:pPr marL="0" indent="0">
              <a:buNone/>
            </a:pPr>
            <a:r>
              <a:rPr kumimoji="1" lang="en-US" altLang="ja-JP" dirty="0"/>
              <a:t>4.</a:t>
            </a:r>
            <a:r>
              <a:rPr kumimoji="1" lang="ja-JP" altLang="en-US" dirty="0"/>
              <a:t>社員情報一覧表示機能</a:t>
            </a:r>
            <a:endParaRPr kumimoji="1" lang="en-US" altLang="ja-JP" dirty="0"/>
          </a:p>
        </p:txBody>
      </p:sp>
    </p:spTree>
    <p:extLst>
      <p:ext uri="{BB962C8B-B14F-4D97-AF65-F5344CB8AC3E}">
        <p14:creationId xmlns:p14="http://schemas.microsoft.com/office/powerpoint/2010/main" val="415248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6282A3-883C-8899-9774-8787FD1EA434}"/>
              </a:ext>
            </a:extLst>
          </p:cNvPr>
          <p:cNvSpPr>
            <a:spLocks noGrp="1"/>
          </p:cNvSpPr>
          <p:nvPr>
            <p:ph type="title"/>
          </p:nvPr>
        </p:nvSpPr>
        <p:spPr/>
        <p:txBody>
          <a:bodyPr/>
          <a:lstStyle/>
          <a:p>
            <a:r>
              <a:rPr kumimoji="1" lang="ja-JP" altLang="en-US" dirty="0"/>
              <a:t>開発概要</a:t>
            </a:r>
          </a:p>
        </p:txBody>
      </p:sp>
      <p:sp>
        <p:nvSpPr>
          <p:cNvPr id="3" name="コンテンツ プレースホルダー 2">
            <a:extLst>
              <a:ext uri="{FF2B5EF4-FFF2-40B4-BE49-F238E27FC236}">
                <a16:creationId xmlns:a16="http://schemas.microsoft.com/office/drawing/2014/main" id="{3BD95E4F-8C13-DE7B-4AF4-6B1F202C0894}"/>
              </a:ext>
            </a:extLst>
          </p:cNvPr>
          <p:cNvSpPr>
            <a:spLocks noGrp="1"/>
          </p:cNvSpPr>
          <p:nvPr>
            <p:ph idx="1"/>
          </p:nvPr>
        </p:nvSpPr>
        <p:spPr>
          <a:xfrm>
            <a:off x="1115568" y="2161032"/>
            <a:ext cx="10168128" cy="3694176"/>
          </a:xfrm>
        </p:spPr>
        <p:txBody>
          <a:bodyPr/>
          <a:lstStyle/>
          <a:p>
            <a:pPr marL="0" indent="0">
              <a:buNone/>
            </a:pPr>
            <a:r>
              <a:rPr kumimoji="1" lang="ja-JP" altLang="en-US" dirty="0"/>
              <a:t>データベース上にあるテーブルの使用</a:t>
            </a:r>
            <a:endParaRPr kumimoji="1" lang="en-US" altLang="ja-JP" dirty="0"/>
          </a:p>
          <a:p>
            <a:pPr marL="0" indent="0">
              <a:buNone/>
            </a:pPr>
            <a:endParaRPr kumimoji="1" lang="en-US" altLang="ja-JP" dirty="0"/>
          </a:p>
        </p:txBody>
      </p:sp>
      <p:pic>
        <p:nvPicPr>
          <p:cNvPr id="5" name="図 4">
            <a:extLst>
              <a:ext uri="{FF2B5EF4-FFF2-40B4-BE49-F238E27FC236}">
                <a16:creationId xmlns:a16="http://schemas.microsoft.com/office/drawing/2014/main" id="{DFD3E884-9C6C-2D5B-02D8-CDB4076F7A76}"/>
              </a:ext>
            </a:extLst>
          </p:cNvPr>
          <p:cNvPicPr>
            <a:picLocks noChangeAspect="1"/>
          </p:cNvPicPr>
          <p:nvPr/>
        </p:nvPicPr>
        <p:blipFill>
          <a:blip r:embed="rId2"/>
          <a:stretch>
            <a:fillRect/>
          </a:stretch>
        </p:blipFill>
        <p:spPr>
          <a:xfrm>
            <a:off x="1228560" y="2771794"/>
            <a:ext cx="7374592" cy="3555854"/>
          </a:xfrm>
          <a:prstGeom prst="rect">
            <a:avLst/>
          </a:prstGeom>
        </p:spPr>
      </p:pic>
    </p:spTree>
    <p:extLst>
      <p:ext uri="{BB962C8B-B14F-4D97-AF65-F5344CB8AC3E}">
        <p14:creationId xmlns:p14="http://schemas.microsoft.com/office/powerpoint/2010/main" val="3587429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AD3A11-0B3A-458C-9910-8098C5EEAC6F}"/>
              </a:ext>
            </a:extLst>
          </p:cNvPr>
          <p:cNvSpPr>
            <a:spLocks noGrp="1"/>
          </p:cNvSpPr>
          <p:nvPr>
            <p:ph type="title"/>
          </p:nvPr>
        </p:nvSpPr>
        <p:spPr/>
        <p:txBody>
          <a:bodyPr/>
          <a:lstStyle/>
          <a:p>
            <a:r>
              <a:rPr kumimoji="1" lang="ja-JP" altLang="en-US" dirty="0"/>
              <a:t>開発スケジュール：当初の予定</a:t>
            </a:r>
          </a:p>
        </p:txBody>
      </p:sp>
      <p:graphicFrame>
        <p:nvGraphicFramePr>
          <p:cNvPr id="19" name="表 18">
            <a:extLst>
              <a:ext uri="{FF2B5EF4-FFF2-40B4-BE49-F238E27FC236}">
                <a16:creationId xmlns:a16="http://schemas.microsoft.com/office/drawing/2014/main" id="{642449E5-CD17-A594-9AE5-F224936E96B2}"/>
              </a:ext>
            </a:extLst>
          </p:cNvPr>
          <p:cNvGraphicFramePr>
            <a:graphicFrameLocks noGrp="1"/>
          </p:cNvGraphicFramePr>
          <p:nvPr>
            <p:extLst>
              <p:ext uri="{D42A27DB-BD31-4B8C-83A1-F6EECF244321}">
                <p14:modId xmlns:p14="http://schemas.microsoft.com/office/powerpoint/2010/main" val="2999670052"/>
              </p:ext>
            </p:extLst>
          </p:nvPr>
        </p:nvGraphicFramePr>
        <p:xfrm>
          <a:off x="536448" y="2097362"/>
          <a:ext cx="11167872" cy="1483360"/>
        </p:xfrm>
        <a:graphic>
          <a:graphicData uri="http://schemas.openxmlformats.org/drawingml/2006/table">
            <a:tbl>
              <a:tblPr firstRow="1" bandRow="1">
                <a:tableStyleId>{5C22544A-7EE6-4342-B048-85BDC9FD1C3A}</a:tableStyleId>
              </a:tblPr>
              <a:tblGrid>
                <a:gridCol w="3722624">
                  <a:extLst>
                    <a:ext uri="{9D8B030D-6E8A-4147-A177-3AD203B41FA5}">
                      <a16:colId xmlns:a16="http://schemas.microsoft.com/office/drawing/2014/main" val="2731533672"/>
                    </a:ext>
                  </a:extLst>
                </a:gridCol>
                <a:gridCol w="3722624">
                  <a:extLst>
                    <a:ext uri="{9D8B030D-6E8A-4147-A177-3AD203B41FA5}">
                      <a16:colId xmlns:a16="http://schemas.microsoft.com/office/drawing/2014/main" val="2476408464"/>
                    </a:ext>
                  </a:extLst>
                </a:gridCol>
                <a:gridCol w="3722624">
                  <a:extLst>
                    <a:ext uri="{9D8B030D-6E8A-4147-A177-3AD203B41FA5}">
                      <a16:colId xmlns:a16="http://schemas.microsoft.com/office/drawing/2014/main" val="4131327806"/>
                    </a:ext>
                  </a:extLst>
                </a:gridCol>
              </a:tblGrid>
              <a:tr h="370840">
                <a:tc>
                  <a:txBody>
                    <a:bodyPr/>
                    <a:lstStyle/>
                    <a:p>
                      <a:r>
                        <a:rPr kumimoji="1" lang="en-US" altLang="ja-JP" dirty="0"/>
                        <a:t>5/20</a:t>
                      </a:r>
                      <a:endParaRPr kumimoji="1" lang="ja-JP" altLang="en-US" dirty="0"/>
                    </a:p>
                  </a:txBody>
                  <a:tcPr/>
                </a:tc>
                <a:tc>
                  <a:txBody>
                    <a:bodyPr/>
                    <a:lstStyle/>
                    <a:p>
                      <a:r>
                        <a:rPr kumimoji="1" lang="en-US" altLang="ja-JP" dirty="0"/>
                        <a:t>5/21</a:t>
                      </a:r>
                      <a:endParaRPr kumimoji="1" lang="ja-JP" altLang="en-US" dirty="0"/>
                    </a:p>
                  </a:txBody>
                  <a:tcPr/>
                </a:tc>
                <a:tc>
                  <a:txBody>
                    <a:bodyPr/>
                    <a:lstStyle/>
                    <a:p>
                      <a:r>
                        <a:rPr kumimoji="1" lang="en-US" altLang="ja-JP" dirty="0"/>
                        <a:t>5/22</a:t>
                      </a:r>
                      <a:endParaRPr kumimoji="1" lang="ja-JP" altLang="en-US" dirty="0"/>
                    </a:p>
                  </a:txBody>
                  <a:tcPr/>
                </a:tc>
                <a:extLst>
                  <a:ext uri="{0D108BD9-81ED-4DB2-BD59-A6C34878D82A}">
                    <a16:rowId xmlns:a16="http://schemas.microsoft.com/office/drawing/2014/main" val="1998411341"/>
                  </a:ext>
                </a:extLst>
              </a:tr>
              <a:tr h="370840">
                <a:tc>
                  <a:txBody>
                    <a:bodyPr/>
                    <a:lstStyle/>
                    <a:p>
                      <a:r>
                        <a:rPr kumimoji="1" lang="en-US" altLang="ja-JP" dirty="0"/>
                        <a:t>ER</a:t>
                      </a:r>
                      <a:r>
                        <a:rPr kumimoji="1" lang="ja-JP" altLang="en-US" dirty="0"/>
                        <a:t>図の作成</a:t>
                      </a:r>
                      <a:endParaRPr kumimoji="1" lang="en-US" altLang="ja-JP" dirty="0"/>
                    </a:p>
                  </a:txBody>
                  <a:tcPr/>
                </a:tc>
                <a:tc>
                  <a:txBody>
                    <a:bodyPr/>
                    <a:lstStyle/>
                    <a:p>
                      <a:r>
                        <a:rPr kumimoji="1" lang="en-US" altLang="ja-JP" b="0" strike="noStrike" dirty="0"/>
                        <a:t>Web</a:t>
                      </a:r>
                      <a:r>
                        <a:rPr kumimoji="1" lang="ja-JP" altLang="en-US" b="0" strike="noStrike" dirty="0"/>
                        <a:t>アプリケーションの作成</a:t>
                      </a:r>
                    </a:p>
                  </a:txBody>
                  <a:tcPr/>
                </a:tc>
                <a:tc>
                  <a:txBody>
                    <a:bodyPr/>
                    <a:lstStyle/>
                    <a:p>
                      <a:r>
                        <a:rPr kumimoji="1" lang="ja-JP" altLang="en-US" dirty="0"/>
                        <a:t>社員登録機能の開発</a:t>
                      </a:r>
                      <a:endParaRPr kumimoji="1" lang="en-US" altLang="ja-JP" dirty="0"/>
                    </a:p>
                  </a:txBody>
                  <a:tcPr/>
                </a:tc>
                <a:extLst>
                  <a:ext uri="{0D108BD9-81ED-4DB2-BD59-A6C34878D82A}">
                    <a16:rowId xmlns:a16="http://schemas.microsoft.com/office/drawing/2014/main" val="756373104"/>
                  </a:ext>
                </a:extLst>
              </a:tr>
              <a:tr h="370840">
                <a:tc>
                  <a:txBody>
                    <a:bodyPr/>
                    <a:lstStyle/>
                    <a:p>
                      <a:endParaRPr kumimoji="1" lang="ja-JP" altLang="en-US" dirty="0"/>
                    </a:p>
                  </a:txBody>
                  <a:tcPr/>
                </a:tc>
                <a:tc>
                  <a:txBody>
                    <a:bodyPr/>
                    <a:lstStyle/>
                    <a:p>
                      <a:r>
                        <a:rPr kumimoji="1" lang="ja-JP" altLang="en-US" dirty="0"/>
                        <a:t>クラス図の作成</a:t>
                      </a:r>
                      <a:endParaRPr kumimoji="1" lang="en-US" altLang="ja-JP" dirty="0"/>
                    </a:p>
                  </a:txBody>
                  <a:tcPr/>
                </a:tc>
                <a:tc>
                  <a:txBody>
                    <a:bodyPr/>
                    <a:lstStyle/>
                    <a:p>
                      <a:r>
                        <a:rPr kumimoji="1" lang="ja-JP" altLang="en-US" dirty="0"/>
                        <a:t>社員登録機能のテスト実施</a:t>
                      </a:r>
                    </a:p>
                  </a:txBody>
                  <a:tcPr/>
                </a:tc>
                <a:extLst>
                  <a:ext uri="{0D108BD9-81ED-4DB2-BD59-A6C34878D82A}">
                    <a16:rowId xmlns:a16="http://schemas.microsoft.com/office/drawing/2014/main" val="3624948085"/>
                  </a:ext>
                </a:extLst>
              </a:tr>
              <a:tr h="370840">
                <a:tc>
                  <a:txBody>
                    <a:bodyPr/>
                    <a:lstStyle/>
                    <a:p>
                      <a:endParaRPr kumimoji="1" lang="ja-JP" altLang="en-US" dirty="0"/>
                    </a:p>
                  </a:txBody>
                  <a:tcPr/>
                </a:tc>
                <a:tc>
                  <a:txBody>
                    <a:bodyPr/>
                    <a:lstStyle/>
                    <a:p>
                      <a:r>
                        <a:rPr kumimoji="1" lang="ja-JP" altLang="en-US" dirty="0"/>
                        <a:t>社員一覧表示の開発</a:t>
                      </a:r>
                    </a:p>
                  </a:txBody>
                  <a:tcPr/>
                </a:tc>
                <a:tc>
                  <a:txBody>
                    <a:bodyPr/>
                    <a:lstStyle/>
                    <a:p>
                      <a:r>
                        <a:rPr kumimoji="1" lang="ja-JP" altLang="en-US" dirty="0"/>
                        <a:t>部署一覧表示の開発</a:t>
                      </a:r>
                    </a:p>
                  </a:txBody>
                  <a:tcPr/>
                </a:tc>
                <a:extLst>
                  <a:ext uri="{0D108BD9-81ED-4DB2-BD59-A6C34878D82A}">
                    <a16:rowId xmlns:a16="http://schemas.microsoft.com/office/drawing/2014/main" val="2414594470"/>
                  </a:ext>
                </a:extLst>
              </a:tr>
            </a:tbl>
          </a:graphicData>
        </a:graphic>
      </p:graphicFrame>
      <p:graphicFrame>
        <p:nvGraphicFramePr>
          <p:cNvPr id="20" name="表 19">
            <a:extLst>
              <a:ext uri="{FF2B5EF4-FFF2-40B4-BE49-F238E27FC236}">
                <a16:creationId xmlns:a16="http://schemas.microsoft.com/office/drawing/2014/main" id="{C67CF34E-4590-CCC1-A2B5-8DBF34F0F772}"/>
              </a:ext>
            </a:extLst>
          </p:cNvPr>
          <p:cNvGraphicFramePr>
            <a:graphicFrameLocks noGrp="1"/>
          </p:cNvGraphicFramePr>
          <p:nvPr>
            <p:extLst>
              <p:ext uri="{D42A27DB-BD31-4B8C-83A1-F6EECF244321}">
                <p14:modId xmlns:p14="http://schemas.microsoft.com/office/powerpoint/2010/main" val="1040784581"/>
              </p:ext>
            </p:extLst>
          </p:nvPr>
        </p:nvGraphicFramePr>
        <p:xfrm>
          <a:off x="536448" y="4371170"/>
          <a:ext cx="11167872" cy="1483360"/>
        </p:xfrm>
        <a:graphic>
          <a:graphicData uri="http://schemas.openxmlformats.org/drawingml/2006/table">
            <a:tbl>
              <a:tblPr firstRow="1" bandRow="1">
                <a:tableStyleId>{5C22544A-7EE6-4342-B048-85BDC9FD1C3A}</a:tableStyleId>
              </a:tblPr>
              <a:tblGrid>
                <a:gridCol w="3722624">
                  <a:extLst>
                    <a:ext uri="{9D8B030D-6E8A-4147-A177-3AD203B41FA5}">
                      <a16:colId xmlns:a16="http://schemas.microsoft.com/office/drawing/2014/main" val="2731533672"/>
                    </a:ext>
                  </a:extLst>
                </a:gridCol>
                <a:gridCol w="3722624">
                  <a:extLst>
                    <a:ext uri="{9D8B030D-6E8A-4147-A177-3AD203B41FA5}">
                      <a16:colId xmlns:a16="http://schemas.microsoft.com/office/drawing/2014/main" val="2476408464"/>
                    </a:ext>
                  </a:extLst>
                </a:gridCol>
                <a:gridCol w="3722624">
                  <a:extLst>
                    <a:ext uri="{9D8B030D-6E8A-4147-A177-3AD203B41FA5}">
                      <a16:colId xmlns:a16="http://schemas.microsoft.com/office/drawing/2014/main" val="4131327806"/>
                    </a:ext>
                  </a:extLst>
                </a:gridCol>
              </a:tblGrid>
              <a:tr h="370840">
                <a:tc>
                  <a:txBody>
                    <a:bodyPr/>
                    <a:lstStyle/>
                    <a:p>
                      <a:r>
                        <a:rPr kumimoji="1" lang="en-US" altLang="ja-JP" dirty="0"/>
                        <a:t>5/25</a:t>
                      </a:r>
                      <a:endParaRPr kumimoji="1" lang="ja-JP" altLang="en-US" dirty="0"/>
                    </a:p>
                  </a:txBody>
                  <a:tcPr/>
                </a:tc>
                <a:tc>
                  <a:txBody>
                    <a:bodyPr/>
                    <a:lstStyle/>
                    <a:p>
                      <a:r>
                        <a:rPr kumimoji="1" lang="en-US" altLang="ja-JP" dirty="0"/>
                        <a:t>5/26</a:t>
                      </a:r>
                      <a:endParaRPr kumimoji="1" lang="ja-JP" altLang="en-US" dirty="0"/>
                    </a:p>
                  </a:txBody>
                  <a:tcPr/>
                </a:tc>
                <a:tc>
                  <a:txBody>
                    <a:bodyPr/>
                    <a:lstStyle/>
                    <a:p>
                      <a:r>
                        <a:rPr kumimoji="1" lang="en-US" altLang="ja-JP" dirty="0"/>
                        <a:t>5/27</a:t>
                      </a:r>
                      <a:endParaRPr kumimoji="1" lang="ja-JP" altLang="en-US" dirty="0"/>
                    </a:p>
                  </a:txBody>
                  <a:tcPr/>
                </a:tc>
                <a:extLst>
                  <a:ext uri="{0D108BD9-81ED-4DB2-BD59-A6C34878D82A}">
                    <a16:rowId xmlns:a16="http://schemas.microsoft.com/office/drawing/2014/main" val="1998411341"/>
                  </a:ext>
                </a:extLst>
              </a:tr>
              <a:tr h="370840">
                <a:tc>
                  <a:txBody>
                    <a:bodyPr/>
                    <a:lstStyle/>
                    <a:p>
                      <a:r>
                        <a:rPr kumimoji="1" lang="ja-JP" altLang="en-US" dirty="0"/>
                        <a:t>部署一覧登録の開発</a:t>
                      </a:r>
                      <a:endParaRPr kumimoji="1" lang="en-US" altLang="ja-JP" dirty="0"/>
                    </a:p>
                  </a:txBody>
                  <a:tcPr/>
                </a:tc>
                <a:tc>
                  <a:txBody>
                    <a:bodyPr/>
                    <a:lstStyle/>
                    <a:p>
                      <a:r>
                        <a:rPr kumimoji="1" lang="ja-JP" altLang="en-US" dirty="0"/>
                        <a:t>ログイン</a:t>
                      </a:r>
                      <a:r>
                        <a:rPr kumimoji="1" lang="en-US" altLang="ja-JP" dirty="0"/>
                        <a:t>/</a:t>
                      </a:r>
                      <a:r>
                        <a:rPr kumimoji="1" lang="ja-JP" altLang="en-US" dirty="0"/>
                        <a:t>ログアウト機能の開発</a:t>
                      </a:r>
                    </a:p>
                  </a:txBody>
                  <a:tcPr/>
                </a:tc>
                <a:tc>
                  <a:txBody>
                    <a:bodyPr/>
                    <a:lstStyle/>
                    <a:p>
                      <a:r>
                        <a:rPr kumimoji="1" lang="ja-JP" altLang="en-US" dirty="0"/>
                        <a:t>発表準備</a:t>
                      </a:r>
                      <a:endParaRPr kumimoji="1" lang="en-US" altLang="ja-JP" dirty="0"/>
                    </a:p>
                  </a:txBody>
                  <a:tcPr/>
                </a:tc>
                <a:extLst>
                  <a:ext uri="{0D108BD9-81ED-4DB2-BD59-A6C34878D82A}">
                    <a16:rowId xmlns:a16="http://schemas.microsoft.com/office/drawing/2014/main" val="756373104"/>
                  </a:ext>
                </a:extLst>
              </a:tr>
              <a:tr h="370840">
                <a:tc>
                  <a:txBody>
                    <a:bodyPr/>
                    <a:lstStyle/>
                    <a:p>
                      <a:r>
                        <a:rPr kumimoji="1" lang="ja-JP" altLang="en-US" dirty="0"/>
                        <a:t>プレゼンテーション資料作成</a:t>
                      </a:r>
                    </a:p>
                  </a:txBody>
                  <a:tcPr/>
                </a:tc>
                <a:tc>
                  <a:txBody>
                    <a:bodyPr/>
                    <a:lstStyle/>
                    <a:p>
                      <a:r>
                        <a:rPr kumimoji="1" lang="ja-JP" altLang="en-US" dirty="0"/>
                        <a:t>ログイン</a:t>
                      </a:r>
                      <a:r>
                        <a:rPr kumimoji="1" lang="en-US" altLang="ja-JP" dirty="0"/>
                        <a:t>/</a:t>
                      </a:r>
                      <a:r>
                        <a:rPr kumimoji="1" lang="ja-JP" altLang="en-US" dirty="0"/>
                        <a:t>ログアウトテスト</a:t>
                      </a:r>
                      <a:endParaRPr kumimoji="1" lang="en-US" altLang="ja-JP" dirty="0"/>
                    </a:p>
                  </a:txBody>
                  <a:tcPr/>
                </a:tc>
                <a:tc>
                  <a:txBody>
                    <a:bodyPr/>
                    <a:lstStyle/>
                    <a:p>
                      <a:endParaRPr kumimoji="1" lang="ja-JP" altLang="en-US" dirty="0"/>
                    </a:p>
                  </a:txBody>
                  <a:tcPr/>
                </a:tc>
                <a:extLst>
                  <a:ext uri="{0D108BD9-81ED-4DB2-BD59-A6C34878D82A}">
                    <a16:rowId xmlns:a16="http://schemas.microsoft.com/office/drawing/2014/main" val="3624948085"/>
                  </a:ext>
                </a:extLst>
              </a:tr>
              <a:tr h="370840">
                <a:tc>
                  <a:txBody>
                    <a:bodyPr/>
                    <a:lstStyle/>
                    <a:p>
                      <a:r>
                        <a:rPr kumimoji="1" lang="ja-JP" altLang="en-US" dirty="0"/>
                        <a:t>シーケンス図の作成</a:t>
                      </a:r>
                    </a:p>
                  </a:txBody>
                  <a:tcPr/>
                </a:tc>
                <a:tc>
                  <a:txBody>
                    <a:bodyPr/>
                    <a:lstStyle/>
                    <a:p>
                      <a:r>
                        <a:rPr kumimoji="1" lang="ja-JP" altLang="en-US" dirty="0"/>
                        <a:t>プレゼンテーション資料修正</a:t>
                      </a:r>
                    </a:p>
                  </a:txBody>
                  <a:tcPr/>
                </a:tc>
                <a:tc>
                  <a:txBody>
                    <a:bodyPr/>
                    <a:lstStyle/>
                    <a:p>
                      <a:endParaRPr kumimoji="1" lang="ja-JP" altLang="en-US" dirty="0"/>
                    </a:p>
                  </a:txBody>
                  <a:tcPr/>
                </a:tc>
                <a:extLst>
                  <a:ext uri="{0D108BD9-81ED-4DB2-BD59-A6C34878D82A}">
                    <a16:rowId xmlns:a16="http://schemas.microsoft.com/office/drawing/2014/main" val="2414594470"/>
                  </a:ext>
                </a:extLst>
              </a:tr>
            </a:tbl>
          </a:graphicData>
        </a:graphic>
      </p:graphicFrame>
    </p:spTree>
    <p:extLst>
      <p:ext uri="{BB962C8B-B14F-4D97-AF65-F5344CB8AC3E}">
        <p14:creationId xmlns:p14="http://schemas.microsoft.com/office/powerpoint/2010/main" val="4260034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38226-F1A4-7707-5104-E8129DDE264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B50A9F-D3FF-C491-3765-ADCC1EF0F1C7}"/>
              </a:ext>
            </a:extLst>
          </p:cNvPr>
          <p:cNvSpPr>
            <a:spLocks noGrp="1"/>
          </p:cNvSpPr>
          <p:nvPr>
            <p:ph type="title"/>
          </p:nvPr>
        </p:nvSpPr>
        <p:spPr/>
        <p:txBody>
          <a:bodyPr/>
          <a:lstStyle/>
          <a:p>
            <a:r>
              <a:rPr kumimoji="1" lang="ja-JP" altLang="en-US" dirty="0"/>
              <a:t>開発スケジュール：実際の結果</a:t>
            </a:r>
          </a:p>
        </p:txBody>
      </p:sp>
      <p:graphicFrame>
        <p:nvGraphicFramePr>
          <p:cNvPr id="19" name="表 18">
            <a:extLst>
              <a:ext uri="{FF2B5EF4-FFF2-40B4-BE49-F238E27FC236}">
                <a16:creationId xmlns:a16="http://schemas.microsoft.com/office/drawing/2014/main" id="{E3E3A6EB-EF3D-4FA3-FB6B-8273B1D1722B}"/>
              </a:ext>
            </a:extLst>
          </p:cNvPr>
          <p:cNvGraphicFramePr>
            <a:graphicFrameLocks noGrp="1"/>
          </p:cNvGraphicFramePr>
          <p:nvPr>
            <p:extLst>
              <p:ext uri="{D42A27DB-BD31-4B8C-83A1-F6EECF244321}">
                <p14:modId xmlns:p14="http://schemas.microsoft.com/office/powerpoint/2010/main" val="1606555967"/>
              </p:ext>
            </p:extLst>
          </p:nvPr>
        </p:nvGraphicFramePr>
        <p:xfrm>
          <a:off x="512064" y="2077720"/>
          <a:ext cx="11167872" cy="2214880"/>
        </p:xfrm>
        <a:graphic>
          <a:graphicData uri="http://schemas.openxmlformats.org/drawingml/2006/table">
            <a:tbl>
              <a:tblPr firstRow="1" bandRow="1">
                <a:tableStyleId>{5C22544A-7EE6-4342-B048-85BDC9FD1C3A}</a:tableStyleId>
              </a:tblPr>
              <a:tblGrid>
                <a:gridCol w="3722624">
                  <a:extLst>
                    <a:ext uri="{9D8B030D-6E8A-4147-A177-3AD203B41FA5}">
                      <a16:colId xmlns:a16="http://schemas.microsoft.com/office/drawing/2014/main" val="2731533672"/>
                    </a:ext>
                  </a:extLst>
                </a:gridCol>
                <a:gridCol w="3722624">
                  <a:extLst>
                    <a:ext uri="{9D8B030D-6E8A-4147-A177-3AD203B41FA5}">
                      <a16:colId xmlns:a16="http://schemas.microsoft.com/office/drawing/2014/main" val="2476408464"/>
                    </a:ext>
                  </a:extLst>
                </a:gridCol>
                <a:gridCol w="3722624">
                  <a:extLst>
                    <a:ext uri="{9D8B030D-6E8A-4147-A177-3AD203B41FA5}">
                      <a16:colId xmlns:a16="http://schemas.microsoft.com/office/drawing/2014/main" val="4131327806"/>
                    </a:ext>
                  </a:extLst>
                </a:gridCol>
              </a:tblGrid>
              <a:tr h="370840">
                <a:tc>
                  <a:txBody>
                    <a:bodyPr/>
                    <a:lstStyle/>
                    <a:p>
                      <a:r>
                        <a:rPr kumimoji="1" lang="en-US" altLang="ja-JP" dirty="0"/>
                        <a:t>5/20</a:t>
                      </a:r>
                      <a:endParaRPr kumimoji="1" lang="ja-JP" altLang="en-US" dirty="0"/>
                    </a:p>
                  </a:txBody>
                  <a:tcPr/>
                </a:tc>
                <a:tc>
                  <a:txBody>
                    <a:bodyPr/>
                    <a:lstStyle/>
                    <a:p>
                      <a:r>
                        <a:rPr kumimoji="1" lang="en-US" altLang="ja-JP" dirty="0"/>
                        <a:t>5/21</a:t>
                      </a:r>
                      <a:endParaRPr kumimoji="1" lang="ja-JP" altLang="en-US" dirty="0"/>
                    </a:p>
                  </a:txBody>
                  <a:tcPr/>
                </a:tc>
                <a:tc>
                  <a:txBody>
                    <a:bodyPr/>
                    <a:lstStyle/>
                    <a:p>
                      <a:r>
                        <a:rPr kumimoji="1" lang="en-US" altLang="ja-JP" dirty="0"/>
                        <a:t>5/22</a:t>
                      </a:r>
                      <a:endParaRPr kumimoji="1" lang="ja-JP" altLang="en-US" dirty="0"/>
                    </a:p>
                  </a:txBody>
                  <a:tcPr/>
                </a:tc>
                <a:extLst>
                  <a:ext uri="{0D108BD9-81ED-4DB2-BD59-A6C34878D82A}">
                    <a16:rowId xmlns:a16="http://schemas.microsoft.com/office/drawing/2014/main" val="1998411341"/>
                  </a:ext>
                </a:extLst>
              </a:tr>
              <a:tr h="370840">
                <a:tc>
                  <a:txBody>
                    <a:bodyPr/>
                    <a:lstStyle/>
                    <a:p>
                      <a:r>
                        <a:rPr kumimoji="1" lang="en-US" altLang="ja-JP" b="1" dirty="0"/>
                        <a:t>ER</a:t>
                      </a:r>
                      <a:r>
                        <a:rPr kumimoji="1" lang="ja-JP" altLang="en-US" b="1" dirty="0"/>
                        <a:t>図の作成</a:t>
                      </a:r>
                      <a:endParaRPr kumimoji="1" lang="en-US" altLang="ja-JP" b="1" dirty="0"/>
                    </a:p>
                  </a:txBody>
                  <a:tcPr/>
                </a:tc>
                <a:tc>
                  <a:txBody>
                    <a:bodyPr/>
                    <a:lstStyle/>
                    <a:p>
                      <a:r>
                        <a:rPr kumimoji="1" lang="en-US" altLang="ja-JP" b="1" dirty="0"/>
                        <a:t>Web</a:t>
                      </a:r>
                      <a:r>
                        <a:rPr kumimoji="1" lang="ja-JP" altLang="en-US" b="1" dirty="0"/>
                        <a:t>アプリケーションの作成</a:t>
                      </a:r>
                    </a:p>
                  </a:txBody>
                  <a:tcPr/>
                </a:tc>
                <a:tc>
                  <a:txBody>
                    <a:bodyPr/>
                    <a:lstStyle/>
                    <a:p>
                      <a:r>
                        <a:rPr kumimoji="1" lang="ja-JP" altLang="en-US" strike="sngStrike" dirty="0"/>
                        <a:t>社員登録機能の開発</a:t>
                      </a:r>
                      <a:endParaRPr kumimoji="1" lang="en-US" altLang="ja-JP" strike="sngStrike" dirty="0"/>
                    </a:p>
                  </a:txBody>
                  <a:tcPr/>
                </a:tc>
                <a:extLst>
                  <a:ext uri="{0D108BD9-81ED-4DB2-BD59-A6C34878D82A}">
                    <a16:rowId xmlns:a16="http://schemas.microsoft.com/office/drawing/2014/main" val="756373104"/>
                  </a:ext>
                </a:extLst>
              </a:tr>
              <a:tr h="370840">
                <a:tc>
                  <a:txBody>
                    <a:bodyPr/>
                    <a:lstStyle/>
                    <a:p>
                      <a:endParaRPr kumimoji="1" lang="ja-JP" altLang="en-US" dirty="0"/>
                    </a:p>
                  </a:txBody>
                  <a:tcPr/>
                </a:tc>
                <a:tc>
                  <a:txBody>
                    <a:bodyPr/>
                    <a:lstStyle/>
                    <a:p>
                      <a:r>
                        <a:rPr kumimoji="1" lang="ja-JP" altLang="en-US" strike="sngStrike" dirty="0"/>
                        <a:t>クラス図の作成</a:t>
                      </a:r>
                      <a:endParaRPr kumimoji="1" lang="en-US" altLang="ja-JP" strike="sngStrike" dirty="0"/>
                    </a:p>
                  </a:txBody>
                  <a:tcPr/>
                </a:tc>
                <a:tc>
                  <a:txBody>
                    <a:bodyPr/>
                    <a:lstStyle/>
                    <a:p>
                      <a:r>
                        <a:rPr kumimoji="1" lang="ja-JP" altLang="en-US" strike="sngStrike" dirty="0"/>
                        <a:t>社員登録機能のテスト実施</a:t>
                      </a:r>
                    </a:p>
                  </a:txBody>
                  <a:tcPr/>
                </a:tc>
                <a:extLst>
                  <a:ext uri="{0D108BD9-81ED-4DB2-BD59-A6C34878D82A}">
                    <a16:rowId xmlns:a16="http://schemas.microsoft.com/office/drawing/2014/main" val="3624948085"/>
                  </a:ext>
                </a:extLst>
              </a:tr>
              <a:tr h="370840">
                <a:tc>
                  <a:txBody>
                    <a:bodyPr/>
                    <a:lstStyle/>
                    <a:p>
                      <a:endParaRPr kumimoji="1" lang="ja-JP" altLang="en-US" dirty="0"/>
                    </a:p>
                  </a:txBody>
                  <a:tcPr/>
                </a:tc>
                <a:tc>
                  <a:txBody>
                    <a:bodyPr/>
                    <a:lstStyle/>
                    <a:p>
                      <a:r>
                        <a:rPr kumimoji="1" lang="ja-JP" altLang="en-US" strike="sngStrike" dirty="0"/>
                        <a:t>社員一覧表示の開発</a:t>
                      </a:r>
                    </a:p>
                  </a:txBody>
                  <a:tcPr/>
                </a:tc>
                <a:tc>
                  <a:txBody>
                    <a:bodyPr/>
                    <a:lstStyle/>
                    <a:p>
                      <a:r>
                        <a:rPr kumimoji="1" lang="ja-JP" altLang="en-US" strike="sngStrike" dirty="0"/>
                        <a:t>部署一覧表示の開発</a:t>
                      </a:r>
                    </a:p>
                  </a:txBody>
                  <a:tcPr/>
                </a:tc>
                <a:extLst>
                  <a:ext uri="{0D108BD9-81ED-4DB2-BD59-A6C34878D82A}">
                    <a16:rowId xmlns:a16="http://schemas.microsoft.com/office/drawing/2014/main" val="2414594470"/>
                  </a:ext>
                </a:extLst>
              </a:tr>
              <a:tr h="145288">
                <a:tc>
                  <a:txBody>
                    <a:bodyPr/>
                    <a:lstStyle/>
                    <a:p>
                      <a:endParaRPr kumimoji="1" lang="ja-JP" altLang="en-US" dirty="0"/>
                    </a:p>
                  </a:txBody>
                  <a:tcPr/>
                </a:tc>
                <a:tc>
                  <a:txBody>
                    <a:bodyPr/>
                    <a:lstStyle/>
                    <a:p>
                      <a:r>
                        <a:rPr kumimoji="1" lang="ja-JP" altLang="en-US" b="1" strike="noStrike" dirty="0">
                          <a:solidFill>
                            <a:srgbClr val="FF0000"/>
                          </a:solidFill>
                        </a:rPr>
                        <a:t>社員登録機能の開発</a:t>
                      </a:r>
                    </a:p>
                  </a:txBody>
                  <a:tcPr/>
                </a:tc>
                <a:tc>
                  <a:txBody>
                    <a:bodyPr/>
                    <a:lstStyle/>
                    <a:p>
                      <a:r>
                        <a:rPr kumimoji="1" lang="ja-JP" altLang="en-US" b="1" strike="noStrike" dirty="0">
                          <a:solidFill>
                            <a:srgbClr val="FF0000"/>
                          </a:solidFill>
                        </a:rPr>
                        <a:t>部署登録機能の開発</a:t>
                      </a:r>
                    </a:p>
                  </a:txBody>
                  <a:tcPr/>
                </a:tc>
                <a:extLst>
                  <a:ext uri="{0D108BD9-81ED-4DB2-BD59-A6C34878D82A}">
                    <a16:rowId xmlns:a16="http://schemas.microsoft.com/office/drawing/2014/main" val="3779446826"/>
                  </a:ext>
                </a:extLst>
              </a:tr>
              <a:tr h="145288">
                <a:tc>
                  <a:txBody>
                    <a:bodyPr/>
                    <a:lstStyle/>
                    <a:p>
                      <a:endParaRPr kumimoji="1" lang="ja-JP" altLang="en-US" dirty="0"/>
                    </a:p>
                  </a:txBody>
                  <a:tcPr/>
                </a:tc>
                <a:tc>
                  <a:txBody>
                    <a:bodyPr/>
                    <a:lstStyle/>
                    <a:p>
                      <a:endParaRPr kumimoji="1" lang="ja-JP" altLang="en-US" b="1" strike="noStrike" dirty="0">
                        <a:solidFill>
                          <a:srgbClr val="FF0000"/>
                        </a:solidFill>
                      </a:endParaRPr>
                    </a:p>
                  </a:txBody>
                  <a:tcPr/>
                </a:tc>
                <a:tc>
                  <a:txBody>
                    <a:bodyPr/>
                    <a:lstStyle/>
                    <a:p>
                      <a:r>
                        <a:rPr kumimoji="1" lang="ja-JP" altLang="en-US" b="1" strike="noStrike" dirty="0">
                          <a:solidFill>
                            <a:srgbClr val="FF0000"/>
                          </a:solidFill>
                        </a:rPr>
                        <a:t>テーブル定義書の作成</a:t>
                      </a:r>
                    </a:p>
                  </a:txBody>
                  <a:tcPr/>
                </a:tc>
                <a:extLst>
                  <a:ext uri="{0D108BD9-81ED-4DB2-BD59-A6C34878D82A}">
                    <a16:rowId xmlns:a16="http://schemas.microsoft.com/office/drawing/2014/main" val="908953680"/>
                  </a:ext>
                </a:extLst>
              </a:tr>
            </a:tbl>
          </a:graphicData>
        </a:graphic>
      </p:graphicFrame>
      <p:graphicFrame>
        <p:nvGraphicFramePr>
          <p:cNvPr id="20" name="表 19">
            <a:extLst>
              <a:ext uri="{FF2B5EF4-FFF2-40B4-BE49-F238E27FC236}">
                <a16:creationId xmlns:a16="http://schemas.microsoft.com/office/drawing/2014/main" id="{291B1F5C-7A9C-44B4-6179-FF6363A1BFB9}"/>
              </a:ext>
            </a:extLst>
          </p:cNvPr>
          <p:cNvGraphicFramePr>
            <a:graphicFrameLocks noGrp="1"/>
          </p:cNvGraphicFramePr>
          <p:nvPr>
            <p:extLst>
              <p:ext uri="{D42A27DB-BD31-4B8C-83A1-F6EECF244321}">
                <p14:modId xmlns:p14="http://schemas.microsoft.com/office/powerpoint/2010/main" val="1372117842"/>
              </p:ext>
            </p:extLst>
          </p:nvPr>
        </p:nvGraphicFramePr>
        <p:xfrm>
          <a:off x="536448" y="4322402"/>
          <a:ext cx="11167872" cy="2225040"/>
        </p:xfrm>
        <a:graphic>
          <a:graphicData uri="http://schemas.openxmlformats.org/drawingml/2006/table">
            <a:tbl>
              <a:tblPr firstRow="1" bandRow="1">
                <a:tableStyleId>{5C22544A-7EE6-4342-B048-85BDC9FD1C3A}</a:tableStyleId>
              </a:tblPr>
              <a:tblGrid>
                <a:gridCol w="3722624">
                  <a:extLst>
                    <a:ext uri="{9D8B030D-6E8A-4147-A177-3AD203B41FA5}">
                      <a16:colId xmlns:a16="http://schemas.microsoft.com/office/drawing/2014/main" val="2731533672"/>
                    </a:ext>
                  </a:extLst>
                </a:gridCol>
                <a:gridCol w="3722624">
                  <a:extLst>
                    <a:ext uri="{9D8B030D-6E8A-4147-A177-3AD203B41FA5}">
                      <a16:colId xmlns:a16="http://schemas.microsoft.com/office/drawing/2014/main" val="2476408464"/>
                    </a:ext>
                  </a:extLst>
                </a:gridCol>
                <a:gridCol w="3722624">
                  <a:extLst>
                    <a:ext uri="{9D8B030D-6E8A-4147-A177-3AD203B41FA5}">
                      <a16:colId xmlns:a16="http://schemas.microsoft.com/office/drawing/2014/main" val="4131327806"/>
                    </a:ext>
                  </a:extLst>
                </a:gridCol>
              </a:tblGrid>
              <a:tr h="370840">
                <a:tc>
                  <a:txBody>
                    <a:bodyPr/>
                    <a:lstStyle/>
                    <a:p>
                      <a:r>
                        <a:rPr kumimoji="1" lang="en-US" altLang="ja-JP" dirty="0"/>
                        <a:t>5/25</a:t>
                      </a:r>
                      <a:endParaRPr kumimoji="1" lang="ja-JP" altLang="en-US" dirty="0"/>
                    </a:p>
                  </a:txBody>
                  <a:tcPr/>
                </a:tc>
                <a:tc>
                  <a:txBody>
                    <a:bodyPr/>
                    <a:lstStyle/>
                    <a:p>
                      <a:r>
                        <a:rPr kumimoji="1" lang="en-US" altLang="ja-JP" dirty="0"/>
                        <a:t>5/26</a:t>
                      </a:r>
                      <a:endParaRPr kumimoji="1" lang="ja-JP" altLang="en-US" dirty="0"/>
                    </a:p>
                  </a:txBody>
                  <a:tcPr/>
                </a:tc>
                <a:tc>
                  <a:txBody>
                    <a:bodyPr/>
                    <a:lstStyle/>
                    <a:p>
                      <a:r>
                        <a:rPr kumimoji="1" lang="en-US" altLang="ja-JP" dirty="0"/>
                        <a:t>5/27</a:t>
                      </a:r>
                      <a:endParaRPr kumimoji="1" lang="ja-JP" altLang="en-US" dirty="0"/>
                    </a:p>
                  </a:txBody>
                  <a:tcPr/>
                </a:tc>
                <a:extLst>
                  <a:ext uri="{0D108BD9-81ED-4DB2-BD59-A6C34878D82A}">
                    <a16:rowId xmlns:a16="http://schemas.microsoft.com/office/drawing/2014/main" val="1998411341"/>
                  </a:ext>
                </a:extLst>
              </a:tr>
              <a:tr h="370840">
                <a:tc>
                  <a:txBody>
                    <a:bodyPr/>
                    <a:lstStyle/>
                    <a:p>
                      <a:r>
                        <a:rPr kumimoji="1" lang="ja-JP" altLang="en-US" strike="sngStrike" dirty="0"/>
                        <a:t>部署登録機能の開発</a:t>
                      </a:r>
                      <a:endParaRPr kumimoji="1" lang="en-US" altLang="ja-JP" strike="sngStrike" dirty="0"/>
                    </a:p>
                  </a:txBody>
                  <a:tcPr/>
                </a:tc>
                <a:tc>
                  <a:txBody>
                    <a:bodyPr/>
                    <a:lstStyle/>
                    <a:p>
                      <a:r>
                        <a:rPr kumimoji="1" lang="ja-JP" altLang="en-US" strike="sngStrike" dirty="0"/>
                        <a:t>ログイン</a:t>
                      </a:r>
                      <a:r>
                        <a:rPr kumimoji="1" lang="en-US" altLang="ja-JP" strike="sngStrike" dirty="0"/>
                        <a:t>/</a:t>
                      </a:r>
                      <a:r>
                        <a:rPr kumimoji="1" lang="ja-JP" altLang="en-US" strike="sngStrike" dirty="0"/>
                        <a:t>ログアウト機能の開発</a:t>
                      </a:r>
                    </a:p>
                  </a:txBody>
                  <a:tcPr/>
                </a:tc>
                <a:tc>
                  <a:txBody>
                    <a:bodyPr/>
                    <a:lstStyle/>
                    <a:p>
                      <a:r>
                        <a:rPr kumimoji="1" lang="ja-JP" altLang="en-US" strike="sngStrike" dirty="0"/>
                        <a:t>発表準備</a:t>
                      </a:r>
                      <a:endParaRPr kumimoji="1" lang="en-US" altLang="ja-JP" strike="sngStrike" dirty="0"/>
                    </a:p>
                  </a:txBody>
                  <a:tcPr/>
                </a:tc>
                <a:extLst>
                  <a:ext uri="{0D108BD9-81ED-4DB2-BD59-A6C34878D82A}">
                    <a16:rowId xmlns:a16="http://schemas.microsoft.com/office/drawing/2014/main" val="756373104"/>
                  </a:ext>
                </a:extLst>
              </a:tr>
              <a:tr h="370840">
                <a:tc>
                  <a:txBody>
                    <a:bodyPr/>
                    <a:lstStyle/>
                    <a:p>
                      <a:r>
                        <a:rPr kumimoji="1" lang="ja-JP" altLang="en-US" strike="sngStrike" dirty="0"/>
                        <a:t>プレゼンテーション資料作成</a:t>
                      </a:r>
                    </a:p>
                  </a:txBody>
                  <a:tcPr/>
                </a:tc>
                <a:tc>
                  <a:txBody>
                    <a:bodyPr/>
                    <a:lstStyle/>
                    <a:p>
                      <a:r>
                        <a:rPr kumimoji="1" lang="ja-JP" altLang="en-US" strike="sngStrike" dirty="0"/>
                        <a:t>ログイン</a:t>
                      </a:r>
                      <a:r>
                        <a:rPr kumimoji="1" lang="en-US" altLang="ja-JP" strike="sngStrike" dirty="0"/>
                        <a:t>/</a:t>
                      </a:r>
                      <a:r>
                        <a:rPr kumimoji="1" lang="ja-JP" altLang="en-US" strike="sngStrike" dirty="0"/>
                        <a:t>ログアウトテスト</a:t>
                      </a:r>
                      <a:endParaRPr kumimoji="1" lang="en-US" altLang="ja-JP" strike="sngStrike" dirty="0"/>
                    </a:p>
                  </a:txBody>
                  <a:tcPr/>
                </a:tc>
                <a:tc>
                  <a:txBody>
                    <a:bodyPr/>
                    <a:lstStyle/>
                    <a:p>
                      <a:r>
                        <a:rPr kumimoji="1" lang="ja-JP" altLang="en-US" b="1" dirty="0">
                          <a:solidFill>
                            <a:srgbClr val="FF0000"/>
                          </a:solidFill>
                        </a:rPr>
                        <a:t>社員一覧表示の開発</a:t>
                      </a:r>
                    </a:p>
                  </a:txBody>
                  <a:tcPr/>
                </a:tc>
                <a:extLst>
                  <a:ext uri="{0D108BD9-81ED-4DB2-BD59-A6C34878D82A}">
                    <a16:rowId xmlns:a16="http://schemas.microsoft.com/office/drawing/2014/main" val="3624948085"/>
                  </a:ext>
                </a:extLst>
              </a:tr>
              <a:tr h="370840">
                <a:tc>
                  <a:txBody>
                    <a:bodyPr/>
                    <a:lstStyle/>
                    <a:p>
                      <a:r>
                        <a:rPr kumimoji="1" lang="ja-JP" altLang="en-US" strike="sngStrike" dirty="0"/>
                        <a:t>シーケンス図の作成</a:t>
                      </a:r>
                    </a:p>
                  </a:txBody>
                  <a:tcPr/>
                </a:tc>
                <a:tc>
                  <a:txBody>
                    <a:bodyPr/>
                    <a:lstStyle/>
                    <a:p>
                      <a:r>
                        <a:rPr kumimoji="1" lang="ja-JP" altLang="en-US" strike="sngStrike" dirty="0"/>
                        <a:t>プレゼンテーション資料修正</a:t>
                      </a:r>
                    </a:p>
                  </a:txBody>
                  <a:tcPr/>
                </a:tc>
                <a:tc>
                  <a:txBody>
                    <a:bodyPr/>
                    <a:lstStyle/>
                    <a:p>
                      <a:r>
                        <a:rPr kumimoji="1" lang="ja-JP" altLang="en-US" b="1" dirty="0">
                          <a:solidFill>
                            <a:srgbClr val="FF0000"/>
                          </a:solidFill>
                        </a:rPr>
                        <a:t>部署登録ブラックボックステスト</a:t>
                      </a:r>
                    </a:p>
                  </a:txBody>
                  <a:tcPr/>
                </a:tc>
                <a:extLst>
                  <a:ext uri="{0D108BD9-81ED-4DB2-BD59-A6C34878D82A}">
                    <a16:rowId xmlns:a16="http://schemas.microsoft.com/office/drawing/2014/main" val="2414594470"/>
                  </a:ext>
                </a:extLst>
              </a:tr>
              <a:tr h="370840">
                <a:tc>
                  <a:txBody>
                    <a:bodyPr/>
                    <a:lstStyle/>
                    <a:p>
                      <a:r>
                        <a:rPr kumimoji="1" lang="ja-JP" altLang="en-US" b="1" strike="noStrike" dirty="0">
                          <a:solidFill>
                            <a:srgbClr val="FF0000"/>
                          </a:solidFill>
                        </a:rPr>
                        <a:t>社員登録ブラックボックステスト</a:t>
                      </a:r>
                    </a:p>
                  </a:txBody>
                  <a:tcPr/>
                </a:tc>
                <a:tc>
                  <a:txBody>
                    <a:bodyPr/>
                    <a:lstStyle/>
                    <a:p>
                      <a:r>
                        <a:rPr kumimoji="1" lang="ja-JP" altLang="en-US" strike="sngStrike" dirty="0"/>
                        <a:t>社員登録クラス図</a:t>
                      </a:r>
                    </a:p>
                  </a:txBody>
                  <a:tcPr/>
                </a:tc>
                <a:tc>
                  <a:txBody>
                    <a:bodyPr/>
                    <a:lstStyle/>
                    <a:p>
                      <a:endParaRPr kumimoji="1" lang="ja-JP" altLang="en-US" dirty="0"/>
                    </a:p>
                  </a:txBody>
                  <a:tcPr/>
                </a:tc>
                <a:extLst>
                  <a:ext uri="{0D108BD9-81ED-4DB2-BD59-A6C34878D82A}">
                    <a16:rowId xmlns:a16="http://schemas.microsoft.com/office/drawing/2014/main" val="3287157729"/>
                  </a:ext>
                </a:extLst>
              </a:tr>
              <a:tr h="370840">
                <a:tc>
                  <a:txBody>
                    <a:bodyPr/>
                    <a:lstStyle/>
                    <a:p>
                      <a:endParaRPr kumimoji="1" lang="ja-JP" altLang="en-US" strike="sngStrike" dirty="0"/>
                    </a:p>
                  </a:txBody>
                  <a:tcPr/>
                </a:tc>
                <a:tc>
                  <a:txBody>
                    <a:bodyPr/>
                    <a:lstStyle/>
                    <a:p>
                      <a:r>
                        <a:rPr kumimoji="1" lang="ja-JP" altLang="en-US" b="1" strike="noStrike" dirty="0">
                          <a:solidFill>
                            <a:srgbClr val="FF0000"/>
                          </a:solidFill>
                        </a:rPr>
                        <a:t>部署一覧表示の開発</a:t>
                      </a:r>
                    </a:p>
                  </a:txBody>
                  <a:tcPr/>
                </a:tc>
                <a:tc>
                  <a:txBody>
                    <a:bodyPr/>
                    <a:lstStyle/>
                    <a:p>
                      <a:endParaRPr kumimoji="1" lang="ja-JP" altLang="en-US" dirty="0"/>
                    </a:p>
                  </a:txBody>
                  <a:tcPr/>
                </a:tc>
                <a:extLst>
                  <a:ext uri="{0D108BD9-81ED-4DB2-BD59-A6C34878D82A}">
                    <a16:rowId xmlns:a16="http://schemas.microsoft.com/office/drawing/2014/main" val="3079990500"/>
                  </a:ext>
                </a:extLst>
              </a:tr>
            </a:tbl>
          </a:graphicData>
        </a:graphic>
      </p:graphicFrame>
    </p:spTree>
    <p:extLst>
      <p:ext uri="{BB962C8B-B14F-4D97-AF65-F5344CB8AC3E}">
        <p14:creationId xmlns:p14="http://schemas.microsoft.com/office/powerpoint/2010/main" val="2885907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274958-5459-7223-4235-EA936F80846F}"/>
              </a:ext>
            </a:extLst>
          </p:cNvPr>
          <p:cNvSpPr>
            <a:spLocks noGrp="1"/>
          </p:cNvSpPr>
          <p:nvPr>
            <p:ph type="title"/>
          </p:nvPr>
        </p:nvSpPr>
        <p:spPr/>
        <p:txBody>
          <a:bodyPr/>
          <a:lstStyle/>
          <a:p>
            <a:r>
              <a:rPr kumimoji="1" lang="ja-JP" altLang="en-US" dirty="0"/>
              <a:t>開発スケジュール：進捗報告</a:t>
            </a:r>
          </a:p>
        </p:txBody>
      </p:sp>
      <p:graphicFrame>
        <p:nvGraphicFramePr>
          <p:cNvPr id="4" name="表 3">
            <a:extLst>
              <a:ext uri="{FF2B5EF4-FFF2-40B4-BE49-F238E27FC236}">
                <a16:creationId xmlns:a16="http://schemas.microsoft.com/office/drawing/2014/main" id="{93A76A8A-8178-C7F8-EEFF-C697BFA7F0F0}"/>
              </a:ext>
            </a:extLst>
          </p:cNvPr>
          <p:cNvGraphicFramePr>
            <a:graphicFrameLocks noGrp="1"/>
          </p:cNvGraphicFramePr>
          <p:nvPr>
            <p:extLst>
              <p:ext uri="{D42A27DB-BD31-4B8C-83A1-F6EECF244321}">
                <p14:modId xmlns:p14="http://schemas.microsoft.com/office/powerpoint/2010/main" val="4187941100"/>
              </p:ext>
            </p:extLst>
          </p:nvPr>
        </p:nvGraphicFramePr>
        <p:xfrm>
          <a:off x="512064" y="2621618"/>
          <a:ext cx="11167872" cy="1112520"/>
        </p:xfrm>
        <a:graphic>
          <a:graphicData uri="http://schemas.openxmlformats.org/drawingml/2006/table">
            <a:tbl>
              <a:tblPr firstRow="1" bandRow="1">
                <a:tableStyleId>{5C22544A-7EE6-4342-B048-85BDC9FD1C3A}</a:tableStyleId>
              </a:tblPr>
              <a:tblGrid>
                <a:gridCol w="3722624">
                  <a:extLst>
                    <a:ext uri="{9D8B030D-6E8A-4147-A177-3AD203B41FA5}">
                      <a16:colId xmlns:a16="http://schemas.microsoft.com/office/drawing/2014/main" val="2731533672"/>
                    </a:ext>
                  </a:extLst>
                </a:gridCol>
                <a:gridCol w="6408928">
                  <a:extLst>
                    <a:ext uri="{9D8B030D-6E8A-4147-A177-3AD203B41FA5}">
                      <a16:colId xmlns:a16="http://schemas.microsoft.com/office/drawing/2014/main" val="2476408464"/>
                    </a:ext>
                  </a:extLst>
                </a:gridCol>
                <a:gridCol w="1036320">
                  <a:extLst>
                    <a:ext uri="{9D8B030D-6E8A-4147-A177-3AD203B41FA5}">
                      <a16:colId xmlns:a16="http://schemas.microsoft.com/office/drawing/2014/main" val="4131327806"/>
                    </a:ext>
                  </a:extLst>
                </a:gridCol>
              </a:tblGrid>
              <a:tr h="370840">
                <a:tc>
                  <a:txBody>
                    <a:bodyPr/>
                    <a:lstStyle/>
                    <a:p>
                      <a:r>
                        <a:rPr kumimoji="1" lang="ja-JP" altLang="en-US" dirty="0"/>
                        <a:t>目標</a:t>
                      </a:r>
                    </a:p>
                  </a:txBody>
                  <a:tcPr/>
                </a:tc>
                <a:tc>
                  <a:txBody>
                    <a:bodyPr/>
                    <a:lstStyle/>
                    <a:p>
                      <a:r>
                        <a:rPr kumimoji="1" lang="ja-JP" altLang="en-US" dirty="0"/>
                        <a:t>作業内容</a:t>
                      </a:r>
                    </a:p>
                  </a:txBody>
                  <a:tcPr/>
                </a:tc>
                <a:tc>
                  <a:txBody>
                    <a:bodyPr/>
                    <a:lstStyle/>
                    <a:p>
                      <a:r>
                        <a:rPr kumimoji="1" lang="ja-JP" altLang="en-US" dirty="0"/>
                        <a:t>達成度</a:t>
                      </a:r>
                    </a:p>
                  </a:txBody>
                  <a:tcPr/>
                </a:tc>
                <a:extLst>
                  <a:ext uri="{0D108BD9-81ED-4DB2-BD59-A6C34878D82A}">
                    <a16:rowId xmlns:a16="http://schemas.microsoft.com/office/drawing/2014/main" val="1998411341"/>
                  </a:ext>
                </a:extLst>
              </a:tr>
              <a:tr h="370840">
                <a:tc rowSpan="2">
                  <a:txBody>
                    <a:bodyPr/>
                    <a:lstStyle/>
                    <a:p>
                      <a:r>
                        <a:rPr kumimoji="1" lang="en-US" altLang="ja-JP" dirty="0"/>
                        <a:t>ER</a:t>
                      </a:r>
                      <a:r>
                        <a:rPr kumimoji="1" lang="ja-JP" altLang="en-US" dirty="0"/>
                        <a:t>図の作成</a:t>
                      </a:r>
                      <a:endParaRPr kumimoji="1" lang="en-US" altLang="ja-JP" dirty="0"/>
                    </a:p>
                  </a:txBody>
                  <a:tcPr/>
                </a:tc>
                <a:tc>
                  <a:txBody>
                    <a:bodyPr/>
                    <a:lstStyle/>
                    <a:p>
                      <a:r>
                        <a:rPr kumimoji="1" lang="ja-JP" altLang="en-US" dirty="0"/>
                        <a:t>エンティティの整理</a:t>
                      </a:r>
                    </a:p>
                  </a:txBody>
                  <a:tcPr/>
                </a:tc>
                <a:tc>
                  <a:txBody>
                    <a:bodyPr/>
                    <a:lstStyle/>
                    <a:p>
                      <a:r>
                        <a:rPr kumimoji="1" lang="ja-JP" altLang="en-US" dirty="0"/>
                        <a:t>〇</a:t>
                      </a:r>
                      <a:endParaRPr kumimoji="1" lang="en-US" altLang="ja-JP" dirty="0"/>
                    </a:p>
                  </a:txBody>
                  <a:tcPr/>
                </a:tc>
                <a:extLst>
                  <a:ext uri="{0D108BD9-81ED-4DB2-BD59-A6C34878D82A}">
                    <a16:rowId xmlns:a16="http://schemas.microsoft.com/office/drawing/2014/main" val="756373104"/>
                  </a:ext>
                </a:extLst>
              </a:tr>
              <a:tr h="370840">
                <a:tc vMerge="1">
                  <a:txBody>
                    <a:bodyPr/>
                    <a:lstStyle/>
                    <a:p>
                      <a:endParaRPr kumimoji="1" lang="ja-JP" altLang="en-US" dirty="0"/>
                    </a:p>
                  </a:txBody>
                  <a:tcPr/>
                </a:tc>
                <a:tc>
                  <a:txBody>
                    <a:bodyPr/>
                    <a:lstStyle/>
                    <a:p>
                      <a:r>
                        <a:rPr kumimoji="1" lang="ja-JP" altLang="en-US" dirty="0"/>
                        <a:t>関係線をつなぐ</a:t>
                      </a:r>
                      <a:endParaRPr kumimoji="1" lang="en-US" altLang="ja-JP" dirty="0"/>
                    </a:p>
                  </a:txBody>
                  <a:tcPr/>
                </a:tc>
                <a:tc>
                  <a:txBody>
                    <a:bodyPr/>
                    <a:lstStyle/>
                    <a:p>
                      <a:r>
                        <a:rPr kumimoji="1" lang="ja-JP" altLang="en-US" dirty="0"/>
                        <a:t>〇</a:t>
                      </a:r>
                    </a:p>
                  </a:txBody>
                  <a:tcPr/>
                </a:tc>
                <a:extLst>
                  <a:ext uri="{0D108BD9-81ED-4DB2-BD59-A6C34878D82A}">
                    <a16:rowId xmlns:a16="http://schemas.microsoft.com/office/drawing/2014/main" val="3624948085"/>
                  </a:ext>
                </a:extLst>
              </a:tr>
            </a:tbl>
          </a:graphicData>
        </a:graphic>
      </p:graphicFrame>
      <p:sp>
        <p:nvSpPr>
          <p:cNvPr id="5" name="テキスト ボックス 4">
            <a:extLst>
              <a:ext uri="{FF2B5EF4-FFF2-40B4-BE49-F238E27FC236}">
                <a16:creationId xmlns:a16="http://schemas.microsoft.com/office/drawing/2014/main" id="{EE49DB0B-7D80-B736-2C1F-1B9C42429DC2}"/>
              </a:ext>
            </a:extLst>
          </p:cNvPr>
          <p:cNvSpPr txBox="1"/>
          <p:nvPr/>
        </p:nvSpPr>
        <p:spPr>
          <a:xfrm>
            <a:off x="451104" y="2117702"/>
            <a:ext cx="7242048" cy="523220"/>
          </a:xfrm>
          <a:prstGeom prst="rect">
            <a:avLst/>
          </a:prstGeom>
          <a:noFill/>
        </p:spPr>
        <p:txBody>
          <a:bodyPr wrap="square" rtlCol="0">
            <a:spAutoFit/>
          </a:bodyPr>
          <a:lstStyle/>
          <a:p>
            <a:r>
              <a:rPr kumimoji="1" lang="en-US" altLang="ja-JP" sz="2800" dirty="0"/>
              <a:t>5</a:t>
            </a:r>
            <a:r>
              <a:rPr kumimoji="1" lang="ja-JP" altLang="en-US" sz="2800" dirty="0"/>
              <a:t>月</a:t>
            </a:r>
            <a:r>
              <a:rPr kumimoji="1" lang="en-US" altLang="ja-JP" sz="2800" dirty="0"/>
              <a:t>20</a:t>
            </a:r>
            <a:r>
              <a:rPr kumimoji="1" lang="ja-JP" altLang="en-US" sz="2800" dirty="0"/>
              <a:t>日</a:t>
            </a:r>
          </a:p>
        </p:txBody>
      </p:sp>
    </p:spTree>
    <p:extLst>
      <p:ext uri="{BB962C8B-B14F-4D97-AF65-F5344CB8AC3E}">
        <p14:creationId xmlns:p14="http://schemas.microsoft.com/office/powerpoint/2010/main" val="540204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F9CA0-7A50-BF76-A011-633F2BB0EBF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9CB7B43-DBBB-0EF1-AAD2-880B10F24C17}"/>
              </a:ext>
            </a:extLst>
          </p:cNvPr>
          <p:cNvSpPr>
            <a:spLocks noGrp="1"/>
          </p:cNvSpPr>
          <p:nvPr>
            <p:ph type="title"/>
          </p:nvPr>
        </p:nvSpPr>
        <p:spPr/>
        <p:txBody>
          <a:bodyPr/>
          <a:lstStyle/>
          <a:p>
            <a:r>
              <a:rPr kumimoji="1" lang="ja-JP" altLang="en-US" dirty="0"/>
              <a:t>開発スケジュール：進捗報告</a:t>
            </a:r>
          </a:p>
        </p:txBody>
      </p:sp>
      <p:graphicFrame>
        <p:nvGraphicFramePr>
          <p:cNvPr id="4" name="表 3">
            <a:extLst>
              <a:ext uri="{FF2B5EF4-FFF2-40B4-BE49-F238E27FC236}">
                <a16:creationId xmlns:a16="http://schemas.microsoft.com/office/drawing/2014/main" id="{5CFC98E8-29A2-5F2F-2AD3-F9D2C251AFC7}"/>
              </a:ext>
            </a:extLst>
          </p:cNvPr>
          <p:cNvGraphicFramePr>
            <a:graphicFrameLocks noGrp="1"/>
          </p:cNvGraphicFramePr>
          <p:nvPr>
            <p:extLst>
              <p:ext uri="{D42A27DB-BD31-4B8C-83A1-F6EECF244321}">
                <p14:modId xmlns:p14="http://schemas.microsoft.com/office/powerpoint/2010/main" val="919753935"/>
              </p:ext>
            </p:extLst>
          </p:nvPr>
        </p:nvGraphicFramePr>
        <p:xfrm>
          <a:off x="512064" y="2572435"/>
          <a:ext cx="11167872" cy="2194560"/>
        </p:xfrm>
        <a:graphic>
          <a:graphicData uri="http://schemas.openxmlformats.org/drawingml/2006/table">
            <a:tbl>
              <a:tblPr firstRow="1" bandRow="1">
                <a:tableStyleId>{5C22544A-7EE6-4342-B048-85BDC9FD1C3A}</a:tableStyleId>
              </a:tblPr>
              <a:tblGrid>
                <a:gridCol w="3722624">
                  <a:extLst>
                    <a:ext uri="{9D8B030D-6E8A-4147-A177-3AD203B41FA5}">
                      <a16:colId xmlns:a16="http://schemas.microsoft.com/office/drawing/2014/main" val="2731533672"/>
                    </a:ext>
                  </a:extLst>
                </a:gridCol>
                <a:gridCol w="6482080">
                  <a:extLst>
                    <a:ext uri="{9D8B030D-6E8A-4147-A177-3AD203B41FA5}">
                      <a16:colId xmlns:a16="http://schemas.microsoft.com/office/drawing/2014/main" val="2476408464"/>
                    </a:ext>
                  </a:extLst>
                </a:gridCol>
                <a:gridCol w="963168">
                  <a:extLst>
                    <a:ext uri="{9D8B030D-6E8A-4147-A177-3AD203B41FA5}">
                      <a16:colId xmlns:a16="http://schemas.microsoft.com/office/drawing/2014/main" val="4131327806"/>
                    </a:ext>
                  </a:extLst>
                </a:gridCol>
              </a:tblGrid>
              <a:tr h="353568">
                <a:tc>
                  <a:txBody>
                    <a:bodyPr/>
                    <a:lstStyle/>
                    <a:p>
                      <a:r>
                        <a:rPr kumimoji="1" lang="ja-JP" altLang="en-US" dirty="0"/>
                        <a:t>目標</a:t>
                      </a:r>
                    </a:p>
                  </a:txBody>
                  <a:tcPr/>
                </a:tc>
                <a:tc>
                  <a:txBody>
                    <a:bodyPr/>
                    <a:lstStyle/>
                    <a:p>
                      <a:r>
                        <a:rPr kumimoji="1" lang="ja-JP" altLang="en-US" dirty="0"/>
                        <a:t>作業内容</a:t>
                      </a:r>
                    </a:p>
                  </a:txBody>
                  <a:tcPr/>
                </a:tc>
                <a:tc>
                  <a:txBody>
                    <a:bodyPr/>
                    <a:lstStyle/>
                    <a:p>
                      <a:r>
                        <a:rPr kumimoji="1" lang="ja-JP" altLang="en-US" dirty="0"/>
                        <a:t>達成度</a:t>
                      </a:r>
                    </a:p>
                  </a:txBody>
                  <a:tcPr/>
                </a:tc>
                <a:extLst>
                  <a:ext uri="{0D108BD9-81ED-4DB2-BD59-A6C34878D82A}">
                    <a16:rowId xmlns:a16="http://schemas.microsoft.com/office/drawing/2014/main" val="1998411341"/>
                  </a:ext>
                </a:extLst>
              </a:tr>
              <a:tr h="361977">
                <a:tc>
                  <a:txBody>
                    <a:bodyPr/>
                    <a:lstStyle/>
                    <a:p>
                      <a:r>
                        <a:rPr kumimoji="1" lang="en-US" altLang="ja-JP" dirty="0"/>
                        <a:t>Web</a:t>
                      </a:r>
                      <a:r>
                        <a:rPr kumimoji="1" lang="ja-JP" altLang="en-US" dirty="0"/>
                        <a:t>アプリケーションの作成</a:t>
                      </a:r>
                    </a:p>
                  </a:txBody>
                  <a:tcPr/>
                </a:tc>
                <a:tc>
                  <a:txBody>
                    <a:bodyPr/>
                    <a:lstStyle/>
                    <a:p>
                      <a:r>
                        <a:rPr kumimoji="1" lang="ja-JP" altLang="en-US" dirty="0"/>
                        <a:t>プロジェクトの作成</a:t>
                      </a:r>
                    </a:p>
                  </a:txBody>
                  <a:tcPr/>
                </a:tc>
                <a:tc>
                  <a:txBody>
                    <a:bodyPr/>
                    <a:lstStyle/>
                    <a:p>
                      <a:r>
                        <a:rPr kumimoji="1" lang="ja-JP" altLang="en-US" dirty="0"/>
                        <a:t>〇</a:t>
                      </a:r>
                      <a:endParaRPr kumimoji="1" lang="en-US" altLang="ja-JP" dirty="0"/>
                    </a:p>
                  </a:txBody>
                  <a:tcPr/>
                </a:tc>
                <a:extLst>
                  <a:ext uri="{0D108BD9-81ED-4DB2-BD59-A6C34878D82A}">
                    <a16:rowId xmlns:a16="http://schemas.microsoft.com/office/drawing/2014/main" val="756373104"/>
                  </a:ext>
                </a:extLst>
              </a:tr>
              <a:tr h="361977">
                <a:tc rowSpan="3">
                  <a:txBody>
                    <a:bodyPr/>
                    <a:lstStyle/>
                    <a:p>
                      <a:r>
                        <a:rPr kumimoji="1" lang="ja-JP" altLang="en-US" dirty="0"/>
                        <a:t>クラス図の作成</a:t>
                      </a:r>
                      <a:endParaRPr kumimoji="1" lang="en-US" altLang="ja-JP" dirty="0"/>
                    </a:p>
                  </a:txBody>
                  <a:tcPr/>
                </a:tc>
                <a:tc>
                  <a:txBody>
                    <a:bodyPr/>
                    <a:lstStyle/>
                    <a:p>
                      <a:r>
                        <a:rPr kumimoji="1" lang="ja-JP" altLang="en-US" dirty="0"/>
                        <a:t>必要なクラスの把握</a:t>
                      </a:r>
                      <a:endParaRPr kumimoji="1" lang="en-US" altLang="ja-JP"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3624948085"/>
                  </a:ext>
                </a:extLst>
              </a:tr>
              <a:tr h="361977">
                <a:tc vMerge="1">
                  <a:txBody>
                    <a:bodyPr/>
                    <a:lstStyle/>
                    <a:p>
                      <a:endParaRPr kumimoji="1" lang="ja-JP" altLang="en-US" dirty="0"/>
                    </a:p>
                  </a:txBody>
                  <a:tcPr/>
                </a:tc>
                <a:tc>
                  <a:txBody>
                    <a:bodyPr/>
                    <a:lstStyle/>
                    <a:p>
                      <a:r>
                        <a:rPr kumimoji="1" lang="ja-JP" altLang="en-US" dirty="0"/>
                        <a:t>それぞれのクラスで必要なフィールド、メソッドの把握</a:t>
                      </a:r>
                      <a:endParaRPr kumimoji="1" lang="en-US" altLang="ja-JP"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2398298692"/>
                  </a:ext>
                </a:extLst>
              </a:tr>
              <a:tr h="361977">
                <a:tc vMerge="1">
                  <a:txBody>
                    <a:bodyPr/>
                    <a:lstStyle/>
                    <a:p>
                      <a:endParaRPr kumimoji="1" lang="ja-JP" altLang="en-US" dirty="0"/>
                    </a:p>
                  </a:txBody>
                  <a:tcPr/>
                </a:tc>
                <a:tc>
                  <a:txBody>
                    <a:bodyPr/>
                    <a:lstStyle/>
                    <a:p>
                      <a:r>
                        <a:rPr kumimoji="1" lang="ja-JP" altLang="en-US" dirty="0"/>
                        <a:t>クラス同士の関係線をつなぐ</a:t>
                      </a:r>
                      <a:endParaRPr kumimoji="1" lang="en-US" altLang="ja-JP"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2772315722"/>
                  </a:ext>
                </a:extLst>
              </a:tr>
              <a:tr h="361977">
                <a:tc>
                  <a:txBody>
                    <a:bodyPr/>
                    <a:lstStyle/>
                    <a:p>
                      <a:r>
                        <a:rPr kumimoji="1" lang="ja-JP" altLang="en-US" dirty="0"/>
                        <a:t>社員一覧表示の開発</a:t>
                      </a:r>
                    </a:p>
                  </a:txBody>
                  <a:tcPr/>
                </a:tc>
                <a:tc>
                  <a:txBody>
                    <a:bodyPr/>
                    <a:lstStyle/>
                    <a:p>
                      <a:endParaRPr kumimoji="1" lang="en-US" altLang="ja-JP"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3515313772"/>
                  </a:ext>
                </a:extLst>
              </a:tr>
            </a:tbl>
          </a:graphicData>
        </a:graphic>
      </p:graphicFrame>
      <p:sp>
        <p:nvSpPr>
          <p:cNvPr id="5" name="テキスト ボックス 4">
            <a:extLst>
              <a:ext uri="{FF2B5EF4-FFF2-40B4-BE49-F238E27FC236}">
                <a16:creationId xmlns:a16="http://schemas.microsoft.com/office/drawing/2014/main" id="{ED966BF8-7C76-D616-E87C-6EF1870ADAAB}"/>
              </a:ext>
            </a:extLst>
          </p:cNvPr>
          <p:cNvSpPr txBox="1"/>
          <p:nvPr/>
        </p:nvSpPr>
        <p:spPr>
          <a:xfrm>
            <a:off x="451104" y="2117702"/>
            <a:ext cx="7242048" cy="523220"/>
          </a:xfrm>
          <a:prstGeom prst="rect">
            <a:avLst/>
          </a:prstGeom>
          <a:noFill/>
        </p:spPr>
        <p:txBody>
          <a:bodyPr wrap="square" rtlCol="0">
            <a:spAutoFit/>
          </a:bodyPr>
          <a:lstStyle/>
          <a:p>
            <a:r>
              <a:rPr kumimoji="1" lang="en-US" altLang="ja-JP" sz="2800" dirty="0"/>
              <a:t>5</a:t>
            </a:r>
            <a:r>
              <a:rPr kumimoji="1" lang="ja-JP" altLang="en-US" sz="2800" dirty="0"/>
              <a:t>月</a:t>
            </a:r>
            <a:r>
              <a:rPr kumimoji="1" lang="en-US" altLang="ja-JP" sz="2800" dirty="0"/>
              <a:t>21</a:t>
            </a:r>
            <a:r>
              <a:rPr kumimoji="1" lang="ja-JP" altLang="en-US" sz="2800" dirty="0"/>
              <a:t>日</a:t>
            </a:r>
          </a:p>
        </p:txBody>
      </p:sp>
      <p:sp>
        <p:nvSpPr>
          <p:cNvPr id="3" name="テキスト ボックス 2">
            <a:extLst>
              <a:ext uri="{FF2B5EF4-FFF2-40B4-BE49-F238E27FC236}">
                <a16:creationId xmlns:a16="http://schemas.microsoft.com/office/drawing/2014/main" id="{95A5F43D-8A22-8B51-66E1-D9F80AAFAB42}"/>
              </a:ext>
            </a:extLst>
          </p:cNvPr>
          <p:cNvSpPr txBox="1"/>
          <p:nvPr/>
        </p:nvSpPr>
        <p:spPr>
          <a:xfrm>
            <a:off x="512064" y="5888736"/>
            <a:ext cx="11167872" cy="646331"/>
          </a:xfrm>
          <a:prstGeom prst="rect">
            <a:avLst/>
          </a:prstGeom>
          <a:noFill/>
        </p:spPr>
        <p:txBody>
          <a:bodyPr wrap="square" rtlCol="0">
            <a:spAutoFit/>
          </a:bodyPr>
          <a:lstStyle/>
          <a:p>
            <a:r>
              <a:rPr kumimoji="1" lang="ja-JP" altLang="en-US" dirty="0"/>
              <a:t>・クラスの全体像を把握し切れていないため、先にクラス図を作るのではなく、テキストを参考にアプリ開発を進めながらクラス図を作る方向に切り替えた。</a:t>
            </a:r>
          </a:p>
        </p:txBody>
      </p:sp>
      <p:sp>
        <p:nvSpPr>
          <p:cNvPr id="6" name="テキスト ボックス 5">
            <a:extLst>
              <a:ext uri="{FF2B5EF4-FFF2-40B4-BE49-F238E27FC236}">
                <a16:creationId xmlns:a16="http://schemas.microsoft.com/office/drawing/2014/main" id="{DBC3E66E-4235-A769-CB2D-4EC5A6B70F59}"/>
              </a:ext>
            </a:extLst>
          </p:cNvPr>
          <p:cNvSpPr txBox="1"/>
          <p:nvPr/>
        </p:nvSpPr>
        <p:spPr>
          <a:xfrm>
            <a:off x="451104" y="5254597"/>
            <a:ext cx="11167872" cy="646331"/>
          </a:xfrm>
          <a:prstGeom prst="rect">
            <a:avLst/>
          </a:prstGeom>
          <a:noFill/>
        </p:spPr>
        <p:txBody>
          <a:bodyPr wrap="square" rtlCol="0">
            <a:spAutoFit/>
          </a:bodyPr>
          <a:lstStyle/>
          <a:p>
            <a:r>
              <a:rPr kumimoji="1" lang="ja-JP" altLang="en-US" dirty="0"/>
              <a:t>・研修内で使用していたテキスト演習用</a:t>
            </a:r>
            <a:r>
              <a:rPr kumimoji="1" lang="en-US" altLang="ja-JP" dirty="0"/>
              <a:t>Sample</a:t>
            </a:r>
            <a:r>
              <a:rPr kumimoji="1" lang="ja-JP" altLang="en-US" dirty="0"/>
              <a:t>ファイルが、社員情報登録機能であったため、それを参考にすることで社員登録の実装ができた。</a:t>
            </a:r>
          </a:p>
        </p:txBody>
      </p:sp>
      <p:graphicFrame>
        <p:nvGraphicFramePr>
          <p:cNvPr id="7" name="表 6">
            <a:extLst>
              <a:ext uri="{FF2B5EF4-FFF2-40B4-BE49-F238E27FC236}">
                <a16:creationId xmlns:a16="http://schemas.microsoft.com/office/drawing/2014/main" id="{FB373043-E71B-D0DC-928B-B653286F61F1}"/>
              </a:ext>
            </a:extLst>
          </p:cNvPr>
          <p:cNvGraphicFramePr>
            <a:graphicFrameLocks noGrp="1"/>
          </p:cNvGraphicFramePr>
          <p:nvPr>
            <p:extLst>
              <p:ext uri="{D42A27DB-BD31-4B8C-83A1-F6EECF244321}">
                <p14:modId xmlns:p14="http://schemas.microsoft.com/office/powerpoint/2010/main" val="2857440463"/>
              </p:ext>
            </p:extLst>
          </p:nvPr>
        </p:nvGraphicFramePr>
        <p:xfrm>
          <a:off x="512064" y="4766995"/>
          <a:ext cx="11167872" cy="370840"/>
        </p:xfrm>
        <a:graphic>
          <a:graphicData uri="http://schemas.openxmlformats.org/drawingml/2006/table">
            <a:tbl>
              <a:tblPr firstCol="1" bandRow="1">
                <a:tableStyleId>{5C22544A-7EE6-4342-B048-85BDC9FD1C3A}</a:tableStyleId>
              </a:tblPr>
              <a:tblGrid>
                <a:gridCol w="5583936">
                  <a:extLst>
                    <a:ext uri="{9D8B030D-6E8A-4147-A177-3AD203B41FA5}">
                      <a16:colId xmlns:a16="http://schemas.microsoft.com/office/drawing/2014/main" val="2723856679"/>
                    </a:ext>
                  </a:extLst>
                </a:gridCol>
                <a:gridCol w="5583936">
                  <a:extLst>
                    <a:ext uri="{9D8B030D-6E8A-4147-A177-3AD203B41FA5}">
                      <a16:colId xmlns:a16="http://schemas.microsoft.com/office/drawing/2014/main" val="3187307241"/>
                    </a:ext>
                  </a:extLst>
                </a:gridCol>
              </a:tblGrid>
              <a:tr h="370840">
                <a:tc>
                  <a:txBody>
                    <a:bodyPr/>
                    <a:lstStyle/>
                    <a:p>
                      <a:r>
                        <a:rPr kumimoji="1" lang="ja-JP" altLang="en-US" dirty="0"/>
                        <a:t>目標以外に達成できたこと</a:t>
                      </a:r>
                    </a:p>
                  </a:txBody>
                  <a:tcPr/>
                </a:tc>
                <a:tc>
                  <a:txBody>
                    <a:bodyPr/>
                    <a:lstStyle/>
                    <a:p>
                      <a:r>
                        <a:rPr kumimoji="1" lang="ja-JP" altLang="en-US" dirty="0"/>
                        <a:t>社員登録機能の実装表示</a:t>
                      </a:r>
                    </a:p>
                  </a:txBody>
                  <a:tcPr>
                    <a:solidFill>
                      <a:srgbClr val="FDF1E7"/>
                    </a:solidFill>
                  </a:tcPr>
                </a:tc>
                <a:extLst>
                  <a:ext uri="{0D108BD9-81ED-4DB2-BD59-A6C34878D82A}">
                    <a16:rowId xmlns:a16="http://schemas.microsoft.com/office/drawing/2014/main" val="1189307370"/>
                  </a:ext>
                </a:extLst>
              </a:tr>
            </a:tbl>
          </a:graphicData>
        </a:graphic>
      </p:graphicFrame>
    </p:spTree>
    <p:extLst>
      <p:ext uri="{BB962C8B-B14F-4D97-AF65-F5344CB8AC3E}">
        <p14:creationId xmlns:p14="http://schemas.microsoft.com/office/powerpoint/2010/main" val="835973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8356D-E43A-DF76-F08E-E70F748B1EE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83F6251-94D7-457E-6A93-C21D246EF8F7}"/>
              </a:ext>
            </a:extLst>
          </p:cNvPr>
          <p:cNvSpPr>
            <a:spLocks noGrp="1"/>
          </p:cNvSpPr>
          <p:nvPr>
            <p:ph type="title"/>
          </p:nvPr>
        </p:nvSpPr>
        <p:spPr/>
        <p:txBody>
          <a:bodyPr/>
          <a:lstStyle/>
          <a:p>
            <a:r>
              <a:rPr kumimoji="1" lang="ja-JP" altLang="en-US" dirty="0"/>
              <a:t>開発スケジュール：進捗報告</a:t>
            </a:r>
          </a:p>
        </p:txBody>
      </p:sp>
      <p:graphicFrame>
        <p:nvGraphicFramePr>
          <p:cNvPr id="4" name="表 3">
            <a:extLst>
              <a:ext uri="{FF2B5EF4-FFF2-40B4-BE49-F238E27FC236}">
                <a16:creationId xmlns:a16="http://schemas.microsoft.com/office/drawing/2014/main" id="{03B79DEB-945F-58BD-ACA5-ADF862838B2B}"/>
              </a:ext>
            </a:extLst>
          </p:cNvPr>
          <p:cNvGraphicFramePr>
            <a:graphicFrameLocks noGrp="1"/>
          </p:cNvGraphicFramePr>
          <p:nvPr>
            <p:extLst>
              <p:ext uri="{D42A27DB-BD31-4B8C-83A1-F6EECF244321}">
                <p14:modId xmlns:p14="http://schemas.microsoft.com/office/powerpoint/2010/main" val="2027518549"/>
              </p:ext>
            </p:extLst>
          </p:nvPr>
        </p:nvGraphicFramePr>
        <p:xfrm>
          <a:off x="512064" y="2572435"/>
          <a:ext cx="11167872" cy="1828800"/>
        </p:xfrm>
        <a:graphic>
          <a:graphicData uri="http://schemas.openxmlformats.org/drawingml/2006/table">
            <a:tbl>
              <a:tblPr firstRow="1" bandRow="1">
                <a:tableStyleId>{5C22544A-7EE6-4342-B048-85BDC9FD1C3A}</a:tableStyleId>
              </a:tblPr>
              <a:tblGrid>
                <a:gridCol w="3722624">
                  <a:extLst>
                    <a:ext uri="{9D8B030D-6E8A-4147-A177-3AD203B41FA5}">
                      <a16:colId xmlns:a16="http://schemas.microsoft.com/office/drawing/2014/main" val="2731533672"/>
                    </a:ext>
                  </a:extLst>
                </a:gridCol>
                <a:gridCol w="6482080">
                  <a:extLst>
                    <a:ext uri="{9D8B030D-6E8A-4147-A177-3AD203B41FA5}">
                      <a16:colId xmlns:a16="http://schemas.microsoft.com/office/drawing/2014/main" val="2476408464"/>
                    </a:ext>
                  </a:extLst>
                </a:gridCol>
                <a:gridCol w="963168">
                  <a:extLst>
                    <a:ext uri="{9D8B030D-6E8A-4147-A177-3AD203B41FA5}">
                      <a16:colId xmlns:a16="http://schemas.microsoft.com/office/drawing/2014/main" val="4131327806"/>
                    </a:ext>
                  </a:extLst>
                </a:gridCol>
              </a:tblGrid>
              <a:tr h="353568">
                <a:tc>
                  <a:txBody>
                    <a:bodyPr/>
                    <a:lstStyle/>
                    <a:p>
                      <a:r>
                        <a:rPr kumimoji="1" lang="ja-JP" altLang="en-US" dirty="0"/>
                        <a:t>目標</a:t>
                      </a:r>
                    </a:p>
                  </a:txBody>
                  <a:tcPr/>
                </a:tc>
                <a:tc>
                  <a:txBody>
                    <a:bodyPr/>
                    <a:lstStyle/>
                    <a:p>
                      <a:r>
                        <a:rPr kumimoji="1" lang="ja-JP" altLang="en-US" dirty="0"/>
                        <a:t>作業内容</a:t>
                      </a:r>
                    </a:p>
                  </a:txBody>
                  <a:tcPr/>
                </a:tc>
                <a:tc>
                  <a:txBody>
                    <a:bodyPr/>
                    <a:lstStyle/>
                    <a:p>
                      <a:r>
                        <a:rPr kumimoji="1" lang="ja-JP" altLang="en-US" dirty="0"/>
                        <a:t>達成度</a:t>
                      </a:r>
                    </a:p>
                  </a:txBody>
                  <a:tcPr/>
                </a:tc>
                <a:extLst>
                  <a:ext uri="{0D108BD9-81ED-4DB2-BD59-A6C34878D82A}">
                    <a16:rowId xmlns:a16="http://schemas.microsoft.com/office/drawing/2014/main" val="1998411341"/>
                  </a:ext>
                </a:extLst>
              </a:tr>
              <a:tr h="361977">
                <a:tc>
                  <a:txBody>
                    <a:bodyPr/>
                    <a:lstStyle/>
                    <a:p>
                      <a:r>
                        <a:rPr kumimoji="1" lang="ja-JP" altLang="en-US" dirty="0"/>
                        <a:t>社員登録機能のクラス図作成</a:t>
                      </a:r>
                    </a:p>
                  </a:txBody>
                  <a:tcPr/>
                </a:tc>
                <a:tc>
                  <a:txBody>
                    <a:bodyPr/>
                    <a:lstStyle/>
                    <a:p>
                      <a:r>
                        <a:rPr kumimoji="1" lang="ja-JP" altLang="en-US" dirty="0"/>
                        <a:t>クラス図の作成</a:t>
                      </a:r>
                    </a:p>
                  </a:txBody>
                  <a:tcPr/>
                </a:tc>
                <a:tc>
                  <a:txBody>
                    <a:bodyPr/>
                    <a:lstStyle/>
                    <a:p>
                      <a:r>
                        <a:rPr kumimoji="1" lang="ja-JP" altLang="en-US" dirty="0"/>
                        <a:t>△</a:t>
                      </a:r>
                      <a:endParaRPr kumimoji="1" lang="en-US" altLang="ja-JP" dirty="0"/>
                    </a:p>
                  </a:txBody>
                  <a:tcPr/>
                </a:tc>
                <a:extLst>
                  <a:ext uri="{0D108BD9-81ED-4DB2-BD59-A6C34878D82A}">
                    <a16:rowId xmlns:a16="http://schemas.microsoft.com/office/drawing/2014/main" val="756373104"/>
                  </a:ext>
                </a:extLst>
              </a:tr>
              <a:tr h="361977">
                <a:tc>
                  <a:txBody>
                    <a:bodyPr/>
                    <a:lstStyle/>
                    <a:p>
                      <a:r>
                        <a:rPr kumimoji="1" lang="ja-JP" altLang="en-US" dirty="0"/>
                        <a:t>部署登録機能開発</a:t>
                      </a:r>
                      <a:endParaRPr kumimoji="1" lang="en-US" altLang="ja-JP" dirty="0"/>
                    </a:p>
                  </a:txBody>
                  <a:tcPr/>
                </a:tc>
                <a:tc>
                  <a:txBody>
                    <a:bodyPr/>
                    <a:lstStyle/>
                    <a:p>
                      <a:r>
                        <a:rPr kumimoji="1" lang="ja-JP" altLang="en-US" dirty="0"/>
                        <a:t>部署登録機能の実装</a:t>
                      </a:r>
                      <a:endParaRPr kumimoji="1" lang="en-US" altLang="ja-JP"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3624948085"/>
                  </a:ext>
                </a:extLst>
              </a:tr>
              <a:tr h="361977">
                <a:tc rowSpan="2">
                  <a:txBody>
                    <a:bodyPr/>
                    <a:lstStyle/>
                    <a:p>
                      <a:r>
                        <a:rPr kumimoji="1" lang="ja-JP" altLang="en-US" dirty="0"/>
                        <a:t>社員登録テスト</a:t>
                      </a:r>
                    </a:p>
                  </a:txBody>
                  <a:tcPr/>
                </a:tc>
                <a:tc>
                  <a:txBody>
                    <a:bodyPr/>
                    <a:lstStyle/>
                    <a:p>
                      <a:r>
                        <a:rPr kumimoji="1" lang="ja-JP" altLang="en-US" dirty="0"/>
                        <a:t>テストケースの洗い出し</a:t>
                      </a:r>
                      <a:endParaRPr kumimoji="1" lang="en-US" altLang="ja-JP"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2398298692"/>
                  </a:ext>
                </a:extLst>
              </a:tr>
              <a:tr h="361977">
                <a:tc vMerge="1">
                  <a:txBody>
                    <a:bodyPr/>
                    <a:lstStyle/>
                    <a:p>
                      <a:endParaRPr kumimoji="1" lang="ja-JP" altLang="en-US" dirty="0"/>
                    </a:p>
                  </a:txBody>
                  <a:tcPr/>
                </a:tc>
                <a:tc>
                  <a:txBody>
                    <a:bodyPr/>
                    <a:lstStyle/>
                    <a:p>
                      <a:r>
                        <a:rPr kumimoji="1" lang="ja-JP" altLang="en-US" dirty="0"/>
                        <a:t>経路の洗い出し</a:t>
                      </a:r>
                      <a:endParaRPr kumimoji="1" lang="en-US" altLang="ja-JP"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2772315722"/>
                  </a:ext>
                </a:extLst>
              </a:tr>
            </a:tbl>
          </a:graphicData>
        </a:graphic>
      </p:graphicFrame>
      <p:sp>
        <p:nvSpPr>
          <p:cNvPr id="5" name="テキスト ボックス 4">
            <a:extLst>
              <a:ext uri="{FF2B5EF4-FFF2-40B4-BE49-F238E27FC236}">
                <a16:creationId xmlns:a16="http://schemas.microsoft.com/office/drawing/2014/main" id="{CE5C1FFE-265A-09FA-9A00-0464590DC080}"/>
              </a:ext>
            </a:extLst>
          </p:cNvPr>
          <p:cNvSpPr txBox="1"/>
          <p:nvPr/>
        </p:nvSpPr>
        <p:spPr>
          <a:xfrm>
            <a:off x="451104" y="2117702"/>
            <a:ext cx="7242048" cy="523220"/>
          </a:xfrm>
          <a:prstGeom prst="rect">
            <a:avLst/>
          </a:prstGeom>
          <a:noFill/>
        </p:spPr>
        <p:txBody>
          <a:bodyPr wrap="square" rtlCol="0">
            <a:spAutoFit/>
          </a:bodyPr>
          <a:lstStyle/>
          <a:p>
            <a:r>
              <a:rPr kumimoji="1" lang="en-US" altLang="ja-JP" sz="2800" dirty="0"/>
              <a:t>5</a:t>
            </a:r>
            <a:r>
              <a:rPr kumimoji="1" lang="ja-JP" altLang="en-US" sz="2800" dirty="0"/>
              <a:t>月</a:t>
            </a:r>
            <a:r>
              <a:rPr kumimoji="1" lang="en-US" altLang="ja-JP" sz="2800" dirty="0"/>
              <a:t>22</a:t>
            </a:r>
            <a:r>
              <a:rPr kumimoji="1" lang="ja-JP" altLang="en-US" sz="2800" dirty="0"/>
              <a:t>日</a:t>
            </a:r>
          </a:p>
        </p:txBody>
      </p:sp>
      <p:sp>
        <p:nvSpPr>
          <p:cNvPr id="6" name="テキスト ボックス 5">
            <a:extLst>
              <a:ext uri="{FF2B5EF4-FFF2-40B4-BE49-F238E27FC236}">
                <a16:creationId xmlns:a16="http://schemas.microsoft.com/office/drawing/2014/main" id="{C14EEB25-5C6A-E2E2-98EA-B7E7361AAAC8}"/>
              </a:ext>
            </a:extLst>
          </p:cNvPr>
          <p:cNvSpPr txBox="1"/>
          <p:nvPr/>
        </p:nvSpPr>
        <p:spPr>
          <a:xfrm>
            <a:off x="512064" y="5663029"/>
            <a:ext cx="11167872" cy="923330"/>
          </a:xfrm>
          <a:prstGeom prst="rect">
            <a:avLst/>
          </a:prstGeom>
          <a:noFill/>
        </p:spPr>
        <p:txBody>
          <a:bodyPr wrap="square" rtlCol="0">
            <a:spAutoFit/>
          </a:bodyPr>
          <a:lstStyle/>
          <a:p>
            <a:r>
              <a:rPr kumimoji="1" lang="ja-JP" altLang="en-US" dirty="0"/>
              <a:t>・こまめなレビューが必要であることが分かった。</a:t>
            </a:r>
            <a:endParaRPr kumimoji="1" lang="en-US" altLang="ja-JP" dirty="0"/>
          </a:p>
          <a:p>
            <a:r>
              <a:rPr kumimoji="1" lang="ja-JP" altLang="en-US" dirty="0"/>
              <a:t>・ブラックボックステストとホワイトボックステストの違いが分かっていないことを認識した。</a:t>
            </a:r>
            <a:endParaRPr kumimoji="1" lang="en-US" altLang="ja-JP" dirty="0"/>
          </a:p>
          <a:p>
            <a:r>
              <a:rPr kumimoji="1" lang="ja-JP" altLang="en-US" dirty="0"/>
              <a:t>・スケジュールに対する自分の力量を大幅に見誤っていたことが分かった。</a:t>
            </a:r>
          </a:p>
        </p:txBody>
      </p:sp>
      <p:graphicFrame>
        <p:nvGraphicFramePr>
          <p:cNvPr id="7" name="表 6">
            <a:extLst>
              <a:ext uri="{FF2B5EF4-FFF2-40B4-BE49-F238E27FC236}">
                <a16:creationId xmlns:a16="http://schemas.microsoft.com/office/drawing/2014/main" id="{4EB871E7-2B7E-EE2D-1C7F-F0444519EBE5}"/>
              </a:ext>
            </a:extLst>
          </p:cNvPr>
          <p:cNvGraphicFramePr>
            <a:graphicFrameLocks noGrp="1"/>
          </p:cNvGraphicFramePr>
          <p:nvPr>
            <p:extLst>
              <p:ext uri="{D42A27DB-BD31-4B8C-83A1-F6EECF244321}">
                <p14:modId xmlns:p14="http://schemas.microsoft.com/office/powerpoint/2010/main" val="2420561465"/>
              </p:ext>
            </p:extLst>
          </p:nvPr>
        </p:nvGraphicFramePr>
        <p:xfrm>
          <a:off x="512064" y="4381268"/>
          <a:ext cx="11167872" cy="1112520"/>
        </p:xfrm>
        <a:graphic>
          <a:graphicData uri="http://schemas.openxmlformats.org/drawingml/2006/table">
            <a:tbl>
              <a:tblPr firstCol="1" bandRow="1">
                <a:tableStyleId>{5C22544A-7EE6-4342-B048-85BDC9FD1C3A}</a:tableStyleId>
              </a:tblPr>
              <a:tblGrid>
                <a:gridCol w="5583936">
                  <a:extLst>
                    <a:ext uri="{9D8B030D-6E8A-4147-A177-3AD203B41FA5}">
                      <a16:colId xmlns:a16="http://schemas.microsoft.com/office/drawing/2014/main" val="2723856679"/>
                    </a:ext>
                  </a:extLst>
                </a:gridCol>
                <a:gridCol w="5583936">
                  <a:extLst>
                    <a:ext uri="{9D8B030D-6E8A-4147-A177-3AD203B41FA5}">
                      <a16:colId xmlns:a16="http://schemas.microsoft.com/office/drawing/2014/main" val="3187307241"/>
                    </a:ext>
                  </a:extLst>
                </a:gridCol>
              </a:tblGrid>
              <a:tr h="370840">
                <a:tc rowSpan="3">
                  <a:txBody>
                    <a:bodyPr/>
                    <a:lstStyle/>
                    <a:p>
                      <a:r>
                        <a:rPr kumimoji="1" lang="ja-JP" altLang="en-US" dirty="0"/>
                        <a:t>目標以外に達成できたこと</a:t>
                      </a:r>
                    </a:p>
                  </a:txBody>
                  <a:tcPr/>
                </a:tc>
                <a:tc>
                  <a:txBody>
                    <a:bodyPr/>
                    <a:lstStyle/>
                    <a:p>
                      <a:r>
                        <a:rPr kumimoji="1" lang="en-US" altLang="ja-JP" dirty="0"/>
                        <a:t>ER</a:t>
                      </a:r>
                      <a:r>
                        <a:rPr kumimoji="1" lang="ja-JP" altLang="en-US" dirty="0"/>
                        <a:t>図レビュー</a:t>
                      </a:r>
                    </a:p>
                  </a:txBody>
                  <a:tcPr/>
                </a:tc>
                <a:extLst>
                  <a:ext uri="{0D108BD9-81ED-4DB2-BD59-A6C34878D82A}">
                    <a16:rowId xmlns:a16="http://schemas.microsoft.com/office/drawing/2014/main" val="1189307370"/>
                  </a:ext>
                </a:extLst>
              </a:tr>
              <a:tr h="370840">
                <a:tc vMerge="1">
                  <a:txBody>
                    <a:bodyPr/>
                    <a:lstStyle/>
                    <a:p>
                      <a:endParaRPr kumimoji="1" lang="ja-JP" altLang="en-US" dirty="0"/>
                    </a:p>
                  </a:txBody>
                  <a:tcPr/>
                </a:tc>
                <a:tc>
                  <a:txBody>
                    <a:bodyPr/>
                    <a:lstStyle/>
                    <a:p>
                      <a:r>
                        <a:rPr kumimoji="1" lang="ja-JP" altLang="en-US" dirty="0"/>
                        <a:t>テーブル定義書レビュー</a:t>
                      </a:r>
                    </a:p>
                  </a:txBody>
                  <a:tcPr/>
                </a:tc>
                <a:extLst>
                  <a:ext uri="{0D108BD9-81ED-4DB2-BD59-A6C34878D82A}">
                    <a16:rowId xmlns:a16="http://schemas.microsoft.com/office/drawing/2014/main" val="2796838975"/>
                  </a:ext>
                </a:extLst>
              </a:tr>
              <a:tr h="370840">
                <a:tc vMerge="1">
                  <a:txBody>
                    <a:bodyPr/>
                    <a:lstStyle/>
                    <a:p>
                      <a:endParaRPr kumimoji="1" lang="ja-JP" altLang="en-US" dirty="0"/>
                    </a:p>
                  </a:txBody>
                  <a:tcPr/>
                </a:tc>
                <a:tc>
                  <a:txBody>
                    <a:bodyPr/>
                    <a:lstStyle/>
                    <a:p>
                      <a:r>
                        <a:rPr kumimoji="1" lang="ja-JP" altLang="en-US" dirty="0"/>
                        <a:t>社員登録・部署登録レビュー</a:t>
                      </a:r>
                    </a:p>
                  </a:txBody>
                  <a:tcPr/>
                </a:tc>
                <a:extLst>
                  <a:ext uri="{0D108BD9-81ED-4DB2-BD59-A6C34878D82A}">
                    <a16:rowId xmlns:a16="http://schemas.microsoft.com/office/drawing/2014/main" val="3449839211"/>
                  </a:ext>
                </a:extLst>
              </a:tr>
            </a:tbl>
          </a:graphicData>
        </a:graphic>
      </p:graphicFrame>
    </p:spTree>
    <p:extLst>
      <p:ext uri="{BB962C8B-B14F-4D97-AF65-F5344CB8AC3E}">
        <p14:creationId xmlns:p14="http://schemas.microsoft.com/office/powerpoint/2010/main" val="631906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C4E5F-0165-73CA-49CE-66D878A0D75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13A8771-83A1-F032-2DB7-127B4F805A90}"/>
              </a:ext>
            </a:extLst>
          </p:cNvPr>
          <p:cNvSpPr>
            <a:spLocks noGrp="1"/>
          </p:cNvSpPr>
          <p:nvPr>
            <p:ph type="title"/>
          </p:nvPr>
        </p:nvSpPr>
        <p:spPr/>
        <p:txBody>
          <a:bodyPr/>
          <a:lstStyle/>
          <a:p>
            <a:r>
              <a:rPr kumimoji="1" lang="ja-JP" altLang="en-US" dirty="0"/>
              <a:t>開発スケジュール：進捗報告</a:t>
            </a:r>
          </a:p>
        </p:txBody>
      </p:sp>
      <p:graphicFrame>
        <p:nvGraphicFramePr>
          <p:cNvPr id="4" name="表 3">
            <a:extLst>
              <a:ext uri="{FF2B5EF4-FFF2-40B4-BE49-F238E27FC236}">
                <a16:creationId xmlns:a16="http://schemas.microsoft.com/office/drawing/2014/main" id="{ED8752A2-6761-081A-A262-3547042B4B26}"/>
              </a:ext>
            </a:extLst>
          </p:cNvPr>
          <p:cNvGraphicFramePr>
            <a:graphicFrameLocks noGrp="1"/>
          </p:cNvGraphicFramePr>
          <p:nvPr>
            <p:extLst>
              <p:ext uri="{D42A27DB-BD31-4B8C-83A1-F6EECF244321}">
                <p14:modId xmlns:p14="http://schemas.microsoft.com/office/powerpoint/2010/main" val="3813340136"/>
              </p:ext>
            </p:extLst>
          </p:nvPr>
        </p:nvGraphicFramePr>
        <p:xfrm>
          <a:off x="512064" y="2572435"/>
          <a:ext cx="11167872" cy="1828800"/>
        </p:xfrm>
        <a:graphic>
          <a:graphicData uri="http://schemas.openxmlformats.org/drawingml/2006/table">
            <a:tbl>
              <a:tblPr firstRow="1" bandRow="1">
                <a:tableStyleId>{5C22544A-7EE6-4342-B048-85BDC9FD1C3A}</a:tableStyleId>
              </a:tblPr>
              <a:tblGrid>
                <a:gridCol w="3722624">
                  <a:extLst>
                    <a:ext uri="{9D8B030D-6E8A-4147-A177-3AD203B41FA5}">
                      <a16:colId xmlns:a16="http://schemas.microsoft.com/office/drawing/2014/main" val="2731533672"/>
                    </a:ext>
                  </a:extLst>
                </a:gridCol>
                <a:gridCol w="6482080">
                  <a:extLst>
                    <a:ext uri="{9D8B030D-6E8A-4147-A177-3AD203B41FA5}">
                      <a16:colId xmlns:a16="http://schemas.microsoft.com/office/drawing/2014/main" val="2476408464"/>
                    </a:ext>
                  </a:extLst>
                </a:gridCol>
                <a:gridCol w="963168">
                  <a:extLst>
                    <a:ext uri="{9D8B030D-6E8A-4147-A177-3AD203B41FA5}">
                      <a16:colId xmlns:a16="http://schemas.microsoft.com/office/drawing/2014/main" val="4131327806"/>
                    </a:ext>
                  </a:extLst>
                </a:gridCol>
              </a:tblGrid>
              <a:tr h="353568">
                <a:tc>
                  <a:txBody>
                    <a:bodyPr/>
                    <a:lstStyle/>
                    <a:p>
                      <a:r>
                        <a:rPr kumimoji="1" lang="ja-JP" altLang="en-US" dirty="0"/>
                        <a:t>目標</a:t>
                      </a:r>
                    </a:p>
                  </a:txBody>
                  <a:tcPr/>
                </a:tc>
                <a:tc>
                  <a:txBody>
                    <a:bodyPr/>
                    <a:lstStyle/>
                    <a:p>
                      <a:r>
                        <a:rPr kumimoji="1" lang="ja-JP" altLang="en-US" dirty="0"/>
                        <a:t>作業内容</a:t>
                      </a:r>
                    </a:p>
                  </a:txBody>
                  <a:tcPr/>
                </a:tc>
                <a:tc>
                  <a:txBody>
                    <a:bodyPr/>
                    <a:lstStyle/>
                    <a:p>
                      <a:r>
                        <a:rPr kumimoji="1" lang="ja-JP" altLang="en-US" dirty="0"/>
                        <a:t>達成度</a:t>
                      </a:r>
                    </a:p>
                  </a:txBody>
                  <a:tcPr/>
                </a:tc>
                <a:extLst>
                  <a:ext uri="{0D108BD9-81ED-4DB2-BD59-A6C34878D82A}">
                    <a16:rowId xmlns:a16="http://schemas.microsoft.com/office/drawing/2014/main" val="1998411341"/>
                  </a:ext>
                </a:extLst>
              </a:tr>
              <a:tr h="361977">
                <a:tc rowSpan="2">
                  <a:txBody>
                    <a:bodyPr/>
                    <a:lstStyle/>
                    <a:p>
                      <a:r>
                        <a:rPr kumimoji="1" lang="ja-JP" altLang="en-US" dirty="0"/>
                        <a:t>社員登録テスト</a:t>
                      </a:r>
                    </a:p>
                  </a:txBody>
                  <a:tcPr/>
                </a:tc>
                <a:tc>
                  <a:txBody>
                    <a:bodyPr/>
                    <a:lstStyle/>
                    <a:p>
                      <a:r>
                        <a:rPr kumimoji="1" lang="ja-JP" altLang="en-US" dirty="0"/>
                        <a:t>ブラックボックステストのテストケース作成</a:t>
                      </a:r>
                      <a:endParaRPr kumimoji="1" lang="en-US" altLang="ja-JP" dirty="0"/>
                    </a:p>
                  </a:txBody>
                  <a:tcPr/>
                </a:tc>
                <a:tc>
                  <a:txBody>
                    <a:bodyPr/>
                    <a:lstStyle/>
                    <a:p>
                      <a:r>
                        <a:rPr kumimoji="1" lang="ja-JP" altLang="en-US" dirty="0"/>
                        <a:t>〇</a:t>
                      </a:r>
                      <a:endParaRPr kumimoji="1" lang="en-US" altLang="ja-JP" dirty="0"/>
                    </a:p>
                  </a:txBody>
                  <a:tcPr/>
                </a:tc>
                <a:extLst>
                  <a:ext uri="{0D108BD9-81ED-4DB2-BD59-A6C34878D82A}">
                    <a16:rowId xmlns:a16="http://schemas.microsoft.com/office/drawing/2014/main" val="756373104"/>
                  </a:ext>
                </a:extLst>
              </a:tr>
              <a:tr h="361977">
                <a:tc vMerge="1">
                  <a:txBody>
                    <a:bodyPr/>
                    <a:lstStyle/>
                    <a:p>
                      <a:endParaRPr kumimoji="1" lang="en-US" altLang="ja-JP" dirty="0"/>
                    </a:p>
                  </a:txBody>
                  <a:tcPr/>
                </a:tc>
                <a:tc>
                  <a:txBody>
                    <a:bodyPr/>
                    <a:lstStyle/>
                    <a:p>
                      <a:r>
                        <a:rPr kumimoji="1" lang="ja-JP" altLang="en-US" dirty="0"/>
                        <a:t>ブラックボックステストの実施・レビュー</a:t>
                      </a:r>
                      <a:endParaRPr kumimoji="1" lang="en-US" altLang="ja-JP"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3624948085"/>
                  </a:ext>
                </a:extLst>
              </a:tr>
              <a:tr h="361977">
                <a:tc>
                  <a:txBody>
                    <a:bodyPr/>
                    <a:lstStyle/>
                    <a:p>
                      <a:r>
                        <a:rPr kumimoji="1" lang="ja-JP" altLang="en-US" dirty="0"/>
                        <a:t>クラス図</a:t>
                      </a:r>
                    </a:p>
                  </a:txBody>
                  <a:tcPr>
                    <a:solidFill>
                      <a:srgbClr val="FDF1E7"/>
                    </a:solidFill>
                  </a:tcPr>
                </a:tc>
                <a:tc>
                  <a:txBody>
                    <a:bodyPr/>
                    <a:lstStyle/>
                    <a:p>
                      <a:r>
                        <a:rPr kumimoji="1" lang="ja-JP" altLang="en-US" dirty="0"/>
                        <a:t>部署登録機能のクラス図</a:t>
                      </a:r>
                      <a:endParaRPr kumimoji="1" lang="en-US" altLang="ja-JP" dirty="0"/>
                    </a:p>
                  </a:txBody>
                  <a:tcPr/>
                </a:tc>
                <a:tc>
                  <a:txBody>
                    <a:bodyPr/>
                    <a:lstStyle/>
                    <a:p>
                      <a:r>
                        <a:rPr kumimoji="1" lang="ja-JP" altLang="en-US" dirty="0"/>
                        <a:t>△</a:t>
                      </a:r>
                    </a:p>
                  </a:txBody>
                  <a:tcPr/>
                </a:tc>
                <a:extLst>
                  <a:ext uri="{0D108BD9-81ED-4DB2-BD59-A6C34878D82A}">
                    <a16:rowId xmlns:a16="http://schemas.microsoft.com/office/drawing/2014/main" val="2398298692"/>
                  </a:ext>
                </a:extLst>
              </a:tr>
              <a:tr h="361977">
                <a:tc>
                  <a:txBody>
                    <a:bodyPr/>
                    <a:lstStyle/>
                    <a:p>
                      <a:r>
                        <a:rPr kumimoji="1" lang="ja-JP" altLang="en-US" dirty="0"/>
                        <a:t>社員一覧表示の開発</a:t>
                      </a:r>
                    </a:p>
                  </a:txBody>
                  <a:tcPr>
                    <a:solidFill>
                      <a:srgbClr val="FBE1CB"/>
                    </a:solidFill>
                  </a:tcPr>
                </a:tc>
                <a:tc>
                  <a:txBody>
                    <a:bodyPr/>
                    <a:lstStyle/>
                    <a:p>
                      <a:r>
                        <a:rPr kumimoji="1" lang="ja-JP" altLang="en-US" dirty="0"/>
                        <a:t>社員一覧表示機能の実装</a:t>
                      </a:r>
                      <a:endParaRPr kumimoji="1" lang="en-US" altLang="ja-JP"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3819879700"/>
                  </a:ext>
                </a:extLst>
              </a:tr>
            </a:tbl>
          </a:graphicData>
        </a:graphic>
      </p:graphicFrame>
      <p:sp>
        <p:nvSpPr>
          <p:cNvPr id="5" name="テキスト ボックス 4">
            <a:extLst>
              <a:ext uri="{FF2B5EF4-FFF2-40B4-BE49-F238E27FC236}">
                <a16:creationId xmlns:a16="http://schemas.microsoft.com/office/drawing/2014/main" id="{762AD33E-E36D-413D-B910-16D077671709}"/>
              </a:ext>
            </a:extLst>
          </p:cNvPr>
          <p:cNvSpPr txBox="1"/>
          <p:nvPr/>
        </p:nvSpPr>
        <p:spPr>
          <a:xfrm>
            <a:off x="451104" y="2117702"/>
            <a:ext cx="7242048" cy="523220"/>
          </a:xfrm>
          <a:prstGeom prst="rect">
            <a:avLst/>
          </a:prstGeom>
          <a:noFill/>
        </p:spPr>
        <p:txBody>
          <a:bodyPr wrap="square" rtlCol="0">
            <a:spAutoFit/>
          </a:bodyPr>
          <a:lstStyle/>
          <a:p>
            <a:r>
              <a:rPr kumimoji="1" lang="en-US" altLang="ja-JP" sz="2800" dirty="0"/>
              <a:t>5</a:t>
            </a:r>
            <a:r>
              <a:rPr kumimoji="1" lang="ja-JP" altLang="en-US" sz="2800" dirty="0"/>
              <a:t>月</a:t>
            </a:r>
            <a:r>
              <a:rPr kumimoji="1" lang="en-US" altLang="ja-JP" sz="2800" dirty="0"/>
              <a:t>25</a:t>
            </a:r>
            <a:r>
              <a:rPr kumimoji="1" lang="ja-JP" altLang="en-US" sz="2800" dirty="0"/>
              <a:t>日</a:t>
            </a:r>
          </a:p>
        </p:txBody>
      </p:sp>
      <p:sp>
        <p:nvSpPr>
          <p:cNvPr id="6" name="テキスト ボックス 5">
            <a:extLst>
              <a:ext uri="{FF2B5EF4-FFF2-40B4-BE49-F238E27FC236}">
                <a16:creationId xmlns:a16="http://schemas.microsoft.com/office/drawing/2014/main" id="{75EFB819-50FB-C76F-B480-8F6DE9B9525D}"/>
              </a:ext>
            </a:extLst>
          </p:cNvPr>
          <p:cNvSpPr txBox="1"/>
          <p:nvPr/>
        </p:nvSpPr>
        <p:spPr>
          <a:xfrm>
            <a:off x="512064" y="4855968"/>
            <a:ext cx="11167872" cy="369332"/>
          </a:xfrm>
          <a:prstGeom prst="rect">
            <a:avLst/>
          </a:prstGeom>
          <a:noFill/>
        </p:spPr>
        <p:txBody>
          <a:bodyPr wrap="square" rtlCol="0">
            <a:spAutoFit/>
          </a:bodyPr>
          <a:lstStyle/>
          <a:p>
            <a:r>
              <a:rPr kumimoji="1" lang="ja-JP" altLang="en-US" dirty="0"/>
              <a:t>・クラスのフィールドやメソッドの把握はできたが、それぞれのクラスを線で結ぶのはまだ難しかった。</a:t>
            </a:r>
            <a:endParaRPr kumimoji="1" lang="en-US" altLang="ja-JP" dirty="0"/>
          </a:p>
        </p:txBody>
      </p:sp>
    </p:spTree>
    <p:extLst>
      <p:ext uri="{BB962C8B-B14F-4D97-AF65-F5344CB8AC3E}">
        <p14:creationId xmlns:p14="http://schemas.microsoft.com/office/powerpoint/2010/main" val="982473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621BB-D2C4-248D-4A02-DED117A40C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F886E4F-6A3E-70D7-3303-1E4C09463202}"/>
              </a:ext>
            </a:extLst>
          </p:cNvPr>
          <p:cNvSpPr>
            <a:spLocks noGrp="1"/>
          </p:cNvSpPr>
          <p:nvPr>
            <p:ph type="title"/>
          </p:nvPr>
        </p:nvSpPr>
        <p:spPr/>
        <p:txBody>
          <a:bodyPr/>
          <a:lstStyle/>
          <a:p>
            <a:r>
              <a:rPr kumimoji="1" lang="ja-JP" altLang="en-US" dirty="0"/>
              <a:t>開発スケジュール：進捗報告</a:t>
            </a:r>
          </a:p>
        </p:txBody>
      </p:sp>
      <p:graphicFrame>
        <p:nvGraphicFramePr>
          <p:cNvPr id="4" name="表 3">
            <a:extLst>
              <a:ext uri="{FF2B5EF4-FFF2-40B4-BE49-F238E27FC236}">
                <a16:creationId xmlns:a16="http://schemas.microsoft.com/office/drawing/2014/main" id="{F23F6DC8-2B58-2563-AF37-A1FC8204A59A}"/>
              </a:ext>
            </a:extLst>
          </p:cNvPr>
          <p:cNvGraphicFramePr>
            <a:graphicFrameLocks noGrp="1"/>
          </p:cNvGraphicFramePr>
          <p:nvPr>
            <p:extLst>
              <p:ext uri="{D42A27DB-BD31-4B8C-83A1-F6EECF244321}">
                <p14:modId xmlns:p14="http://schemas.microsoft.com/office/powerpoint/2010/main" val="1628422950"/>
              </p:ext>
            </p:extLst>
          </p:nvPr>
        </p:nvGraphicFramePr>
        <p:xfrm>
          <a:off x="512064" y="2572435"/>
          <a:ext cx="11167872" cy="1463040"/>
        </p:xfrm>
        <a:graphic>
          <a:graphicData uri="http://schemas.openxmlformats.org/drawingml/2006/table">
            <a:tbl>
              <a:tblPr firstRow="1" bandRow="1">
                <a:tableStyleId>{5C22544A-7EE6-4342-B048-85BDC9FD1C3A}</a:tableStyleId>
              </a:tblPr>
              <a:tblGrid>
                <a:gridCol w="3722624">
                  <a:extLst>
                    <a:ext uri="{9D8B030D-6E8A-4147-A177-3AD203B41FA5}">
                      <a16:colId xmlns:a16="http://schemas.microsoft.com/office/drawing/2014/main" val="2731533672"/>
                    </a:ext>
                  </a:extLst>
                </a:gridCol>
                <a:gridCol w="6482080">
                  <a:extLst>
                    <a:ext uri="{9D8B030D-6E8A-4147-A177-3AD203B41FA5}">
                      <a16:colId xmlns:a16="http://schemas.microsoft.com/office/drawing/2014/main" val="2476408464"/>
                    </a:ext>
                  </a:extLst>
                </a:gridCol>
                <a:gridCol w="963168">
                  <a:extLst>
                    <a:ext uri="{9D8B030D-6E8A-4147-A177-3AD203B41FA5}">
                      <a16:colId xmlns:a16="http://schemas.microsoft.com/office/drawing/2014/main" val="4131327806"/>
                    </a:ext>
                  </a:extLst>
                </a:gridCol>
              </a:tblGrid>
              <a:tr h="353568">
                <a:tc>
                  <a:txBody>
                    <a:bodyPr/>
                    <a:lstStyle/>
                    <a:p>
                      <a:r>
                        <a:rPr kumimoji="1" lang="ja-JP" altLang="en-US" dirty="0"/>
                        <a:t>目標</a:t>
                      </a:r>
                    </a:p>
                  </a:txBody>
                  <a:tcPr/>
                </a:tc>
                <a:tc>
                  <a:txBody>
                    <a:bodyPr/>
                    <a:lstStyle/>
                    <a:p>
                      <a:r>
                        <a:rPr kumimoji="1" lang="ja-JP" altLang="en-US" dirty="0"/>
                        <a:t>作業内容</a:t>
                      </a:r>
                    </a:p>
                  </a:txBody>
                  <a:tcPr/>
                </a:tc>
                <a:tc>
                  <a:txBody>
                    <a:bodyPr/>
                    <a:lstStyle/>
                    <a:p>
                      <a:r>
                        <a:rPr kumimoji="1" lang="ja-JP" altLang="en-US" dirty="0"/>
                        <a:t>達成度</a:t>
                      </a:r>
                    </a:p>
                  </a:txBody>
                  <a:tcPr/>
                </a:tc>
                <a:extLst>
                  <a:ext uri="{0D108BD9-81ED-4DB2-BD59-A6C34878D82A}">
                    <a16:rowId xmlns:a16="http://schemas.microsoft.com/office/drawing/2014/main" val="1998411341"/>
                  </a:ext>
                </a:extLst>
              </a:tr>
              <a:tr h="361977">
                <a:tc>
                  <a:txBody>
                    <a:bodyPr/>
                    <a:lstStyle/>
                    <a:p>
                      <a:r>
                        <a:rPr kumimoji="1" lang="ja-JP" altLang="en-US" dirty="0"/>
                        <a:t>クラス図</a:t>
                      </a:r>
                    </a:p>
                  </a:txBody>
                  <a:tcPr>
                    <a:solidFill>
                      <a:srgbClr val="FBE1CB"/>
                    </a:solidFill>
                  </a:tcPr>
                </a:tc>
                <a:tc>
                  <a:txBody>
                    <a:bodyPr/>
                    <a:lstStyle/>
                    <a:p>
                      <a:r>
                        <a:rPr kumimoji="1" lang="ja-JP" altLang="en-US" dirty="0"/>
                        <a:t>部署登録機能のクラス図を線でつなぐ</a:t>
                      </a:r>
                      <a:endParaRPr kumimoji="1" lang="en-US" altLang="ja-JP" dirty="0"/>
                    </a:p>
                  </a:txBody>
                  <a:tcPr/>
                </a:tc>
                <a:tc>
                  <a:txBody>
                    <a:bodyPr/>
                    <a:lstStyle/>
                    <a:p>
                      <a:r>
                        <a:rPr kumimoji="1" lang="ja-JP" altLang="en-US" dirty="0"/>
                        <a:t>〇</a:t>
                      </a:r>
                    </a:p>
                  </a:txBody>
                  <a:tcPr/>
                </a:tc>
                <a:extLst>
                  <a:ext uri="{0D108BD9-81ED-4DB2-BD59-A6C34878D82A}">
                    <a16:rowId xmlns:a16="http://schemas.microsoft.com/office/drawing/2014/main" val="2398298692"/>
                  </a:ext>
                </a:extLst>
              </a:tr>
              <a:tr h="329261">
                <a:tc>
                  <a:txBody>
                    <a:bodyPr/>
                    <a:lstStyle/>
                    <a:p>
                      <a:r>
                        <a:rPr kumimoji="1" lang="ja-JP" altLang="en-US" dirty="0"/>
                        <a:t>部署一覧表示の開発</a:t>
                      </a:r>
                    </a:p>
                  </a:txBody>
                  <a:tcPr>
                    <a:solidFill>
                      <a:srgbClr val="FDF1E7"/>
                    </a:solidFill>
                  </a:tcPr>
                </a:tc>
                <a:tc>
                  <a:txBody>
                    <a:bodyPr/>
                    <a:lstStyle/>
                    <a:p>
                      <a:r>
                        <a:rPr kumimoji="1" lang="ja-JP" altLang="en-US" dirty="0"/>
                        <a:t>部署一覧表示の開発及び実装</a:t>
                      </a:r>
                      <a:endParaRPr kumimoji="1" lang="en-US" altLang="ja-JP" dirty="0"/>
                    </a:p>
                  </a:txBody>
                  <a:tcPr/>
                </a:tc>
                <a:tc>
                  <a:txBody>
                    <a:bodyPr/>
                    <a:lstStyle/>
                    <a:p>
                      <a:r>
                        <a:rPr kumimoji="1" lang="ja-JP" altLang="en-US" dirty="0"/>
                        <a:t>〇</a:t>
                      </a:r>
                    </a:p>
                  </a:txBody>
                  <a:tcPr/>
                </a:tc>
                <a:extLst>
                  <a:ext uri="{0D108BD9-81ED-4DB2-BD59-A6C34878D82A}">
                    <a16:rowId xmlns:a16="http://schemas.microsoft.com/office/drawing/2014/main" val="3819879700"/>
                  </a:ext>
                </a:extLst>
              </a:tr>
              <a:tr h="361977">
                <a:tc>
                  <a:txBody>
                    <a:bodyPr/>
                    <a:lstStyle/>
                    <a:p>
                      <a:r>
                        <a:rPr kumimoji="1" lang="ja-JP" altLang="en-US" dirty="0"/>
                        <a:t>部署登録テスト</a:t>
                      </a:r>
                    </a:p>
                  </a:txBody>
                  <a:tcPr>
                    <a:solidFill>
                      <a:srgbClr val="FBE1CB"/>
                    </a:solidFill>
                  </a:tcPr>
                </a:tc>
                <a:tc>
                  <a:txBody>
                    <a:bodyPr/>
                    <a:lstStyle/>
                    <a:p>
                      <a:r>
                        <a:rPr kumimoji="1" lang="ja-JP" altLang="en-US" dirty="0"/>
                        <a:t>部署登録機能のブラックボックステスト</a:t>
                      </a:r>
                      <a:endParaRPr kumimoji="1" lang="en-US" altLang="ja-JP" dirty="0"/>
                    </a:p>
                  </a:txBody>
                  <a:tcPr/>
                </a:tc>
                <a:tc>
                  <a:txBody>
                    <a:bodyPr/>
                    <a:lstStyle/>
                    <a:p>
                      <a:r>
                        <a:rPr kumimoji="1" lang="ja-JP" altLang="en-US" dirty="0"/>
                        <a:t>△</a:t>
                      </a:r>
                    </a:p>
                  </a:txBody>
                  <a:tcPr/>
                </a:tc>
                <a:extLst>
                  <a:ext uri="{0D108BD9-81ED-4DB2-BD59-A6C34878D82A}">
                    <a16:rowId xmlns:a16="http://schemas.microsoft.com/office/drawing/2014/main" val="1556417573"/>
                  </a:ext>
                </a:extLst>
              </a:tr>
            </a:tbl>
          </a:graphicData>
        </a:graphic>
      </p:graphicFrame>
      <p:sp>
        <p:nvSpPr>
          <p:cNvPr id="5" name="テキスト ボックス 4">
            <a:extLst>
              <a:ext uri="{FF2B5EF4-FFF2-40B4-BE49-F238E27FC236}">
                <a16:creationId xmlns:a16="http://schemas.microsoft.com/office/drawing/2014/main" id="{D5AC37CE-564F-C986-DC23-187BFD66C13F}"/>
              </a:ext>
            </a:extLst>
          </p:cNvPr>
          <p:cNvSpPr txBox="1"/>
          <p:nvPr/>
        </p:nvSpPr>
        <p:spPr>
          <a:xfrm>
            <a:off x="451104" y="2117702"/>
            <a:ext cx="7242048" cy="523220"/>
          </a:xfrm>
          <a:prstGeom prst="rect">
            <a:avLst/>
          </a:prstGeom>
          <a:noFill/>
        </p:spPr>
        <p:txBody>
          <a:bodyPr wrap="square" rtlCol="0">
            <a:spAutoFit/>
          </a:bodyPr>
          <a:lstStyle/>
          <a:p>
            <a:r>
              <a:rPr kumimoji="1" lang="en-US" altLang="ja-JP" sz="2800" dirty="0"/>
              <a:t>5</a:t>
            </a:r>
            <a:r>
              <a:rPr kumimoji="1" lang="ja-JP" altLang="en-US" sz="2800" dirty="0"/>
              <a:t>月</a:t>
            </a:r>
            <a:r>
              <a:rPr kumimoji="1" lang="en-US" altLang="ja-JP" sz="2800" dirty="0"/>
              <a:t>26</a:t>
            </a:r>
            <a:r>
              <a:rPr kumimoji="1" lang="ja-JP" altLang="en-US" sz="2800" dirty="0"/>
              <a:t>日</a:t>
            </a:r>
          </a:p>
        </p:txBody>
      </p:sp>
      <p:sp>
        <p:nvSpPr>
          <p:cNvPr id="6" name="テキスト ボックス 5">
            <a:extLst>
              <a:ext uri="{FF2B5EF4-FFF2-40B4-BE49-F238E27FC236}">
                <a16:creationId xmlns:a16="http://schemas.microsoft.com/office/drawing/2014/main" id="{5D000C5A-DDB5-6370-FD02-097CC68EA867}"/>
              </a:ext>
            </a:extLst>
          </p:cNvPr>
          <p:cNvSpPr txBox="1"/>
          <p:nvPr/>
        </p:nvSpPr>
        <p:spPr>
          <a:xfrm>
            <a:off x="512064" y="4719412"/>
            <a:ext cx="11167872" cy="923330"/>
          </a:xfrm>
          <a:prstGeom prst="rect">
            <a:avLst/>
          </a:prstGeom>
          <a:noFill/>
        </p:spPr>
        <p:txBody>
          <a:bodyPr wrap="square" rtlCol="0">
            <a:spAutoFit/>
          </a:bodyPr>
          <a:lstStyle/>
          <a:p>
            <a:r>
              <a:rPr kumimoji="1" lang="ja-JP" altLang="en-US" dirty="0"/>
              <a:t>・部署一覧表示の開発ができたので、当初の予定にはなかったが、そのまま社員一覧表示の開発にも取り掛かった。</a:t>
            </a:r>
            <a:endParaRPr kumimoji="1" lang="en-US" altLang="ja-JP" dirty="0"/>
          </a:p>
          <a:p>
            <a:r>
              <a:rPr kumimoji="1" lang="ja-JP" altLang="en-US" dirty="0"/>
              <a:t>・アプリケーションを作るときの作成していくクラスの順番を把握できた。</a:t>
            </a:r>
            <a:endParaRPr kumimoji="1" lang="en-US" altLang="ja-JP" dirty="0"/>
          </a:p>
        </p:txBody>
      </p:sp>
      <p:graphicFrame>
        <p:nvGraphicFramePr>
          <p:cNvPr id="3" name="表 2">
            <a:extLst>
              <a:ext uri="{FF2B5EF4-FFF2-40B4-BE49-F238E27FC236}">
                <a16:creationId xmlns:a16="http://schemas.microsoft.com/office/drawing/2014/main" id="{4F0EB8F2-243A-A5BD-C79C-BA454A207448}"/>
              </a:ext>
            </a:extLst>
          </p:cNvPr>
          <p:cNvGraphicFramePr>
            <a:graphicFrameLocks noGrp="1"/>
          </p:cNvGraphicFramePr>
          <p:nvPr>
            <p:extLst>
              <p:ext uri="{D42A27DB-BD31-4B8C-83A1-F6EECF244321}">
                <p14:modId xmlns:p14="http://schemas.microsoft.com/office/powerpoint/2010/main" val="3870164789"/>
              </p:ext>
            </p:extLst>
          </p:nvPr>
        </p:nvGraphicFramePr>
        <p:xfrm>
          <a:off x="512064" y="4035475"/>
          <a:ext cx="11167872" cy="372031"/>
        </p:xfrm>
        <a:graphic>
          <a:graphicData uri="http://schemas.openxmlformats.org/drawingml/2006/table">
            <a:tbl>
              <a:tblPr firstCol="1" bandRow="1">
                <a:tableStyleId>{5C22544A-7EE6-4342-B048-85BDC9FD1C3A}</a:tableStyleId>
              </a:tblPr>
              <a:tblGrid>
                <a:gridCol w="5583936">
                  <a:extLst>
                    <a:ext uri="{9D8B030D-6E8A-4147-A177-3AD203B41FA5}">
                      <a16:colId xmlns:a16="http://schemas.microsoft.com/office/drawing/2014/main" val="2723856679"/>
                    </a:ext>
                  </a:extLst>
                </a:gridCol>
                <a:gridCol w="5583936">
                  <a:extLst>
                    <a:ext uri="{9D8B030D-6E8A-4147-A177-3AD203B41FA5}">
                      <a16:colId xmlns:a16="http://schemas.microsoft.com/office/drawing/2014/main" val="3187307241"/>
                    </a:ext>
                  </a:extLst>
                </a:gridCol>
              </a:tblGrid>
              <a:tr h="372031">
                <a:tc>
                  <a:txBody>
                    <a:bodyPr/>
                    <a:lstStyle/>
                    <a:p>
                      <a:r>
                        <a:rPr kumimoji="1" lang="ja-JP" altLang="en-US" dirty="0"/>
                        <a:t>目標以外に挑戦したこと</a:t>
                      </a:r>
                    </a:p>
                  </a:txBody>
                  <a:tcPr/>
                </a:tc>
                <a:tc>
                  <a:txBody>
                    <a:bodyPr/>
                    <a:lstStyle/>
                    <a:p>
                      <a:r>
                        <a:rPr kumimoji="1" lang="ja-JP" altLang="en-US" dirty="0"/>
                        <a:t>社員一覧表示の開発</a:t>
                      </a:r>
                    </a:p>
                  </a:txBody>
                  <a:tcPr>
                    <a:solidFill>
                      <a:srgbClr val="FDF1E7"/>
                    </a:solidFill>
                  </a:tcPr>
                </a:tc>
                <a:extLst>
                  <a:ext uri="{0D108BD9-81ED-4DB2-BD59-A6C34878D82A}">
                    <a16:rowId xmlns:a16="http://schemas.microsoft.com/office/drawing/2014/main" val="1189307370"/>
                  </a:ext>
                </a:extLst>
              </a:tr>
            </a:tbl>
          </a:graphicData>
        </a:graphic>
      </p:graphicFrame>
    </p:spTree>
    <p:extLst>
      <p:ext uri="{BB962C8B-B14F-4D97-AF65-F5344CB8AC3E}">
        <p14:creationId xmlns:p14="http://schemas.microsoft.com/office/powerpoint/2010/main" val="2362668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BBE19-E0A6-45BE-C4DA-FE7AD7D300B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8797D43-D87A-785B-F4E0-B9430225D77D}"/>
              </a:ext>
            </a:extLst>
          </p:cNvPr>
          <p:cNvSpPr>
            <a:spLocks noGrp="1"/>
          </p:cNvSpPr>
          <p:nvPr>
            <p:ph type="title"/>
          </p:nvPr>
        </p:nvSpPr>
        <p:spPr/>
        <p:txBody>
          <a:bodyPr/>
          <a:lstStyle/>
          <a:p>
            <a:r>
              <a:rPr kumimoji="1" lang="ja-JP" altLang="en-US" dirty="0"/>
              <a:t>開発スケジュール：進捗報告</a:t>
            </a:r>
          </a:p>
        </p:txBody>
      </p:sp>
      <p:graphicFrame>
        <p:nvGraphicFramePr>
          <p:cNvPr id="4" name="表 3">
            <a:extLst>
              <a:ext uri="{FF2B5EF4-FFF2-40B4-BE49-F238E27FC236}">
                <a16:creationId xmlns:a16="http://schemas.microsoft.com/office/drawing/2014/main" id="{AB715166-98E5-739A-ED98-EA7FCDE4862C}"/>
              </a:ext>
            </a:extLst>
          </p:cNvPr>
          <p:cNvGraphicFramePr>
            <a:graphicFrameLocks noGrp="1"/>
          </p:cNvGraphicFramePr>
          <p:nvPr>
            <p:extLst>
              <p:ext uri="{D42A27DB-BD31-4B8C-83A1-F6EECF244321}">
                <p14:modId xmlns:p14="http://schemas.microsoft.com/office/powerpoint/2010/main" val="2861275836"/>
              </p:ext>
            </p:extLst>
          </p:nvPr>
        </p:nvGraphicFramePr>
        <p:xfrm>
          <a:off x="512064" y="2572435"/>
          <a:ext cx="11167872" cy="1463040"/>
        </p:xfrm>
        <a:graphic>
          <a:graphicData uri="http://schemas.openxmlformats.org/drawingml/2006/table">
            <a:tbl>
              <a:tblPr firstRow="1" bandRow="1">
                <a:tableStyleId>{5C22544A-7EE6-4342-B048-85BDC9FD1C3A}</a:tableStyleId>
              </a:tblPr>
              <a:tblGrid>
                <a:gridCol w="3722624">
                  <a:extLst>
                    <a:ext uri="{9D8B030D-6E8A-4147-A177-3AD203B41FA5}">
                      <a16:colId xmlns:a16="http://schemas.microsoft.com/office/drawing/2014/main" val="2731533672"/>
                    </a:ext>
                  </a:extLst>
                </a:gridCol>
                <a:gridCol w="6482080">
                  <a:extLst>
                    <a:ext uri="{9D8B030D-6E8A-4147-A177-3AD203B41FA5}">
                      <a16:colId xmlns:a16="http://schemas.microsoft.com/office/drawing/2014/main" val="2476408464"/>
                    </a:ext>
                  </a:extLst>
                </a:gridCol>
                <a:gridCol w="963168">
                  <a:extLst>
                    <a:ext uri="{9D8B030D-6E8A-4147-A177-3AD203B41FA5}">
                      <a16:colId xmlns:a16="http://schemas.microsoft.com/office/drawing/2014/main" val="4131327806"/>
                    </a:ext>
                  </a:extLst>
                </a:gridCol>
              </a:tblGrid>
              <a:tr h="353568">
                <a:tc>
                  <a:txBody>
                    <a:bodyPr/>
                    <a:lstStyle/>
                    <a:p>
                      <a:r>
                        <a:rPr kumimoji="1" lang="ja-JP" altLang="en-US" dirty="0"/>
                        <a:t>目標</a:t>
                      </a:r>
                    </a:p>
                  </a:txBody>
                  <a:tcPr/>
                </a:tc>
                <a:tc>
                  <a:txBody>
                    <a:bodyPr/>
                    <a:lstStyle/>
                    <a:p>
                      <a:r>
                        <a:rPr kumimoji="1" lang="ja-JP" altLang="en-US" dirty="0"/>
                        <a:t>作業内容</a:t>
                      </a:r>
                    </a:p>
                  </a:txBody>
                  <a:tcPr/>
                </a:tc>
                <a:tc>
                  <a:txBody>
                    <a:bodyPr/>
                    <a:lstStyle/>
                    <a:p>
                      <a:r>
                        <a:rPr kumimoji="1" lang="ja-JP" altLang="en-US" dirty="0"/>
                        <a:t>達成度</a:t>
                      </a:r>
                    </a:p>
                  </a:txBody>
                  <a:tcPr/>
                </a:tc>
                <a:extLst>
                  <a:ext uri="{0D108BD9-81ED-4DB2-BD59-A6C34878D82A}">
                    <a16:rowId xmlns:a16="http://schemas.microsoft.com/office/drawing/2014/main" val="1998411341"/>
                  </a:ext>
                </a:extLst>
              </a:tr>
              <a:tr h="361977">
                <a:tc>
                  <a:txBody>
                    <a:bodyPr/>
                    <a:lstStyle/>
                    <a:p>
                      <a:r>
                        <a:rPr kumimoji="1" lang="ja-JP" altLang="en-US" dirty="0"/>
                        <a:t>社員一覧表示の開発</a:t>
                      </a:r>
                    </a:p>
                  </a:txBody>
                  <a:tcPr>
                    <a:solidFill>
                      <a:srgbClr val="FBE1CB"/>
                    </a:solidFill>
                  </a:tcPr>
                </a:tc>
                <a:tc>
                  <a:txBody>
                    <a:bodyPr/>
                    <a:lstStyle/>
                    <a:p>
                      <a:r>
                        <a:rPr kumimoji="1" lang="ja-JP" altLang="en-US" dirty="0"/>
                        <a:t>社員一覧表示の開発＆実装</a:t>
                      </a:r>
                      <a:endParaRPr kumimoji="1" lang="en-US" altLang="ja-JP" dirty="0"/>
                    </a:p>
                  </a:txBody>
                  <a:tcPr/>
                </a:tc>
                <a:tc>
                  <a:txBody>
                    <a:bodyPr/>
                    <a:lstStyle/>
                    <a:p>
                      <a:r>
                        <a:rPr kumimoji="1" lang="ja-JP" altLang="en-US" dirty="0"/>
                        <a:t>〇</a:t>
                      </a:r>
                    </a:p>
                  </a:txBody>
                  <a:tcPr/>
                </a:tc>
                <a:extLst>
                  <a:ext uri="{0D108BD9-81ED-4DB2-BD59-A6C34878D82A}">
                    <a16:rowId xmlns:a16="http://schemas.microsoft.com/office/drawing/2014/main" val="2398298692"/>
                  </a:ext>
                </a:extLst>
              </a:tr>
              <a:tr h="329261">
                <a:tc>
                  <a:txBody>
                    <a:bodyPr/>
                    <a:lstStyle/>
                    <a:p>
                      <a:r>
                        <a:rPr kumimoji="1" lang="ja-JP" altLang="en-US" dirty="0"/>
                        <a:t>クラス図</a:t>
                      </a:r>
                    </a:p>
                  </a:txBody>
                  <a:tcPr>
                    <a:solidFill>
                      <a:srgbClr val="FDF1E7"/>
                    </a:solidFill>
                  </a:tcPr>
                </a:tc>
                <a:tc>
                  <a:txBody>
                    <a:bodyPr/>
                    <a:lstStyle/>
                    <a:p>
                      <a:r>
                        <a:rPr kumimoji="1" lang="ja-JP" altLang="en-US" dirty="0"/>
                        <a:t>クラス図のレビュー</a:t>
                      </a:r>
                      <a:endParaRPr kumimoji="1" lang="en-US" altLang="ja-JP" dirty="0"/>
                    </a:p>
                  </a:txBody>
                  <a:tcPr/>
                </a:tc>
                <a:tc>
                  <a:txBody>
                    <a:bodyPr/>
                    <a:lstStyle/>
                    <a:p>
                      <a:r>
                        <a:rPr kumimoji="1" lang="ja-JP" altLang="en-US" dirty="0"/>
                        <a:t>〇</a:t>
                      </a:r>
                    </a:p>
                  </a:txBody>
                  <a:tcPr/>
                </a:tc>
                <a:extLst>
                  <a:ext uri="{0D108BD9-81ED-4DB2-BD59-A6C34878D82A}">
                    <a16:rowId xmlns:a16="http://schemas.microsoft.com/office/drawing/2014/main" val="3819879700"/>
                  </a:ext>
                </a:extLst>
              </a:tr>
              <a:tr h="361977">
                <a:tc>
                  <a:txBody>
                    <a:bodyPr/>
                    <a:lstStyle/>
                    <a:p>
                      <a:r>
                        <a:rPr kumimoji="1" lang="ja-JP" altLang="en-US" dirty="0"/>
                        <a:t>テスト</a:t>
                      </a:r>
                    </a:p>
                  </a:txBody>
                  <a:tcPr>
                    <a:solidFill>
                      <a:srgbClr val="FBE1CB"/>
                    </a:solidFill>
                  </a:tcPr>
                </a:tc>
                <a:tc>
                  <a:txBody>
                    <a:bodyPr/>
                    <a:lstStyle/>
                    <a:p>
                      <a:r>
                        <a:rPr kumimoji="1" lang="ja-JP" altLang="en-US" dirty="0"/>
                        <a:t>テストケースのレビュー</a:t>
                      </a:r>
                      <a:endParaRPr kumimoji="1" lang="en-US" altLang="ja-JP" dirty="0"/>
                    </a:p>
                  </a:txBody>
                  <a:tcPr/>
                </a:tc>
                <a:tc>
                  <a:txBody>
                    <a:bodyPr/>
                    <a:lstStyle/>
                    <a:p>
                      <a:r>
                        <a:rPr kumimoji="1" lang="ja-JP" altLang="en-US" dirty="0"/>
                        <a:t>〇</a:t>
                      </a:r>
                    </a:p>
                  </a:txBody>
                  <a:tcPr/>
                </a:tc>
                <a:extLst>
                  <a:ext uri="{0D108BD9-81ED-4DB2-BD59-A6C34878D82A}">
                    <a16:rowId xmlns:a16="http://schemas.microsoft.com/office/drawing/2014/main" val="1556417573"/>
                  </a:ext>
                </a:extLst>
              </a:tr>
            </a:tbl>
          </a:graphicData>
        </a:graphic>
      </p:graphicFrame>
      <p:sp>
        <p:nvSpPr>
          <p:cNvPr id="5" name="テキスト ボックス 4">
            <a:extLst>
              <a:ext uri="{FF2B5EF4-FFF2-40B4-BE49-F238E27FC236}">
                <a16:creationId xmlns:a16="http://schemas.microsoft.com/office/drawing/2014/main" id="{142CC7CE-41DC-29C0-8E55-E01A463C7AF3}"/>
              </a:ext>
            </a:extLst>
          </p:cNvPr>
          <p:cNvSpPr txBox="1"/>
          <p:nvPr/>
        </p:nvSpPr>
        <p:spPr>
          <a:xfrm>
            <a:off x="451104" y="2117702"/>
            <a:ext cx="7242048" cy="523220"/>
          </a:xfrm>
          <a:prstGeom prst="rect">
            <a:avLst/>
          </a:prstGeom>
          <a:noFill/>
        </p:spPr>
        <p:txBody>
          <a:bodyPr wrap="square" rtlCol="0">
            <a:spAutoFit/>
          </a:bodyPr>
          <a:lstStyle/>
          <a:p>
            <a:r>
              <a:rPr kumimoji="1" lang="en-US" altLang="ja-JP" sz="2800" dirty="0"/>
              <a:t>5</a:t>
            </a:r>
            <a:r>
              <a:rPr kumimoji="1" lang="ja-JP" altLang="en-US" sz="2800" dirty="0"/>
              <a:t>月</a:t>
            </a:r>
            <a:r>
              <a:rPr kumimoji="1" lang="en-US" altLang="ja-JP" sz="2800" dirty="0"/>
              <a:t>27</a:t>
            </a:r>
            <a:r>
              <a:rPr kumimoji="1" lang="ja-JP" altLang="en-US" sz="2800" dirty="0"/>
              <a:t>日</a:t>
            </a:r>
          </a:p>
        </p:txBody>
      </p:sp>
      <p:sp>
        <p:nvSpPr>
          <p:cNvPr id="7" name="テキスト ボックス 6">
            <a:extLst>
              <a:ext uri="{FF2B5EF4-FFF2-40B4-BE49-F238E27FC236}">
                <a16:creationId xmlns:a16="http://schemas.microsoft.com/office/drawing/2014/main" id="{638CB6FD-8EAC-5A67-9C91-C1A49E0ADDA7}"/>
              </a:ext>
            </a:extLst>
          </p:cNvPr>
          <p:cNvSpPr txBox="1"/>
          <p:nvPr/>
        </p:nvSpPr>
        <p:spPr>
          <a:xfrm>
            <a:off x="463296" y="4070102"/>
            <a:ext cx="7242048" cy="523220"/>
          </a:xfrm>
          <a:prstGeom prst="rect">
            <a:avLst/>
          </a:prstGeom>
          <a:noFill/>
        </p:spPr>
        <p:txBody>
          <a:bodyPr wrap="square" rtlCol="0">
            <a:spAutoFit/>
          </a:bodyPr>
          <a:lstStyle/>
          <a:p>
            <a:r>
              <a:rPr kumimoji="1" lang="en-US" altLang="ja-JP" sz="2800" dirty="0"/>
              <a:t>5</a:t>
            </a:r>
            <a:r>
              <a:rPr kumimoji="1" lang="ja-JP" altLang="en-US" sz="2800" dirty="0"/>
              <a:t>月</a:t>
            </a:r>
            <a:r>
              <a:rPr kumimoji="1" lang="en-US" altLang="ja-JP" sz="2800" dirty="0"/>
              <a:t>28</a:t>
            </a:r>
            <a:r>
              <a:rPr kumimoji="1" lang="ja-JP" altLang="en-US" sz="2800" dirty="0"/>
              <a:t>日</a:t>
            </a:r>
          </a:p>
        </p:txBody>
      </p:sp>
      <p:graphicFrame>
        <p:nvGraphicFramePr>
          <p:cNvPr id="8" name="表 7">
            <a:extLst>
              <a:ext uri="{FF2B5EF4-FFF2-40B4-BE49-F238E27FC236}">
                <a16:creationId xmlns:a16="http://schemas.microsoft.com/office/drawing/2014/main" id="{BD3317D1-457A-9EC1-D770-921175A39EC5}"/>
              </a:ext>
            </a:extLst>
          </p:cNvPr>
          <p:cNvGraphicFramePr>
            <a:graphicFrameLocks noGrp="1"/>
          </p:cNvGraphicFramePr>
          <p:nvPr>
            <p:extLst>
              <p:ext uri="{D42A27DB-BD31-4B8C-83A1-F6EECF244321}">
                <p14:modId xmlns:p14="http://schemas.microsoft.com/office/powerpoint/2010/main" val="40573438"/>
              </p:ext>
            </p:extLst>
          </p:nvPr>
        </p:nvGraphicFramePr>
        <p:xfrm>
          <a:off x="512064" y="4490208"/>
          <a:ext cx="11167872" cy="1097280"/>
        </p:xfrm>
        <a:graphic>
          <a:graphicData uri="http://schemas.openxmlformats.org/drawingml/2006/table">
            <a:tbl>
              <a:tblPr firstRow="1" bandRow="1">
                <a:tableStyleId>{5C22544A-7EE6-4342-B048-85BDC9FD1C3A}</a:tableStyleId>
              </a:tblPr>
              <a:tblGrid>
                <a:gridCol w="3722624">
                  <a:extLst>
                    <a:ext uri="{9D8B030D-6E8A-4147-A177-3AD203B41FA5}">
                      <a16:colId xmlns:a16="http://schemas.microsoft.com/office/drawing/2014/main" val="2731533672"/>
                    </a:ext>
                  </a:extLst>
                </a:gridCol>
                <a:gridCol w="6482080">
                  <a:extLst>
                    <a:ext uri="{9D8B030D-6E8A-4147-A177-3AD203B41FA5}">
                      <a16:colId xmlns:a16="http://schemas.microsoft.com/office/drawing/2014/main" val="2476408464"/>
                    </a:ext>
                  </a:extLst>
                </a:gridCol>
                <a:gridCol w="963168">
                  <a:extLst>
                    <a:ext uri="{9D8B030D-6E8A-4147-A177-3AD203B41FA5}">
                      <a16:colId xmlns:a16="http://schemas.microsoft.com/office/drawing/2014/main" val="4131327806"/>
                    </a:ext>
                  </a:extLst>
                </a:gridCol>
              </a:tblGrid>
              <a:tr h="353568">
                <a:tc>
                  <a:txBody>
                    <a:bodyPr/>
                    <a:lstStyle/>
                    <a:p>
                      <a:r>
                        <a:rPr kumimoji="1" lang="ja-JP" altLang="en-US" dirty="0"/>
                        <a:t>目標</a:t>
                      </a:r>
                    </a:p>
                  </a:txBody>
                  <a:tcPr/>
                </a:tc>
                <a:tc>
                  <a:txBody>
                    <a:bodyPr/>
                    <a:lstStyle/>
                    <a:p>
                      <a:r>
                        <a:rPr kumimoji="1" lang="ja-JP" altLang="en-US" dirty="0"/>
                        <a:t>作業内容</a:t>
                      </a:r>
                    </a:p>
                  </a:txBody>
                  <a:tcPr/>
                </a:tc>
                <a:tc>
                  <a:txBody>
                    <a:bodyPr/>
                    <a:lstStyle/>
                    <a:p>
                      <a:r>
                        <a:rPr kumimoji="1" lang="ja-JP" altLang="en-US" dirty="0"/>
                        <a:t>達成度</a:t>
                      </a:r>
                    </a:p>
                  </a:txBody>
                  <a:tcPr/>
                </a:tc>
                <a:extLst>
                  <a:ext uri="{0D108BD9-81ED-4DB2-BD59-A6C34878D82A}">
                    <a16:rowId xmlns:a16="http://schemas.microsoft.com/office/drawing/2014/main" val="1998411341"/>
                  </a:ext>
                </a:extLst>
              </a:tr>
              <a:tr h="361977">
                <a:tc>
                  <a:txBody>
                    <a:bodyPr/>
                    <a:lstStyle/>
                    <a:p>
                      <a:r>
                        <a:rPr kumimoji="1" lang="ja-JP" altLang="en-US" dirty="0"/>
                        <a:t>プレゼンテーション資料の作成</a:t>
                      </a:r>
                    </a:p>
                  </a:txBody>
                  <a:tcPr>
                    <a:solidFill>
                      <a:srgbClr val="FBE1CB"/>
                    </a:solidFill>
                  </a:tcPr>
                </a:tc>
                <a:tc>
                  <a:txBody>
                    <a:bodyPr/>
                    <a:lstStyle/>
                    <a:p>
                      <a:r>
                        <a:rPr kumimoji="1" lang="ja-JP" altLang="en-US" dirty="0"/>
                        <a:t>パワーポイントの作成</a:t>
                      </a:r>
                      <a:endParaRPr kumimoji="1" lang="en-US" altLang="ja-JP" dirty="0"/>
                    </a:p>
                  </a:txBody>
                  <a:tcPr/>
                </a:tc>
                <a:tc>
                  <a:txBody>
                    <a:bodyPr/>
                    <a:lstStyle/>
                    <a:p>
                      <a:r>
                        <a:rPr kumimoji="1" lang="ja-JP" altLang="en-US" dirty="0"/>
                        <a:t>〇</a:t>
                      </a:r>
                    </a:p>
                  </a:txBody>
                  <a:tcPr/>
                </a:tc>
                <a:extLst>
                  <a:ext uri="{0D108BD9-81ED-4DB2-BD59-A6C34878D82A}">
                    <a16:rowId xmlns:a16="http://schemas.microsoft.com/office/drawing/2014/main" val="2398298692"/>
                  </a:ext>
                </a:extLst>
              </a:tr>
              <a:tr h="329261">
                <a:tc>
                  <a:txBody>
                    <a:bodyPr/>
                    <a:lstStyle/>
                    <a:p>
                      <a:r>
                        <a:rPr kumimoji="1" lang="ja-JP" altLang="en-US" dirty="0"/>
                        <a:t>部分修正</a:t>
                      </a:r>
                    </a:p>
                  </a:txBody>
                  <a:tcPr>
                    <a:solidFill>
                      <a:srgbClr val="FDF1E7"/>
                    </a:solidFill>
                  </a:tcPr>
                </a:tc>
                <a:tc>
                  <a:txBody>
                    <a:bodyPr/>
                    <a:lstStyle/>
                    <a:p>
                      <a:r>
                        <a:rPr kumimoji="1" lang="ja-JP" altLang="en-US" dirty="0"/>
                        <a:t>レビューで指摘された箇所の修正作業</a:t>
                      </a:r>
                      <a:endParaRPr kumimoji="1" lang="en-US" altLang="ja-JP" dirty="0"/>
                    </a:p>
                  </a:txBody>
                  <a:tcPr/>
                </a:tc>
                <a:tc>
                  <a:txBody>
                    <a:bodyPr/>
                    <a:lstStyle/>
                    <a:p>
                      <a:r>
                        <a:rPr kumimoji="1" lang="ja-JP" altLang="en-US" dirty="0"/>
                        <a:t>〇</a:t>
                      </a:r>
                    </a:p>
                  </a:txBody>
                  <a:tcPr/>
                </a:tc>
                <a:extLst>
                  <a:ext uri="{0D108BD9-81ED-4DB2-BD59-A6C34878D82A}">
                    <a16:rowId xmlns:a16="http://schemas.microsoft.com/office/drawing/2014/main" val="3819879700"/>
                  </a:ext>
                </a:extLst>
              </a:tr>
            </a:tbl>
          </a:graphicData>
        </a:graphic>
      </p:graphicFrame>
    </p:spTree>
    <p:extLst>
      <p:ext uri="{BB962C8B-B14F-4D97-AF65-F5344CB8AC3E}">
        <p14:creationId xmlns:p14="http://schemas.microsoft.com/office/powerpoint/2010/main" val="722110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888DB-BC69-4F97-0758-7DA4F701B29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6F91495-FCA7-4022-31A3-B5015E9657E8}"/>
              </a:ext>
            </a:extLst>
          </p:cNvPr>
          <p:cNvSpPr>
            <a:spLocks noGrp="1"/>
          </p:cNvSpPr>
          <p:nvPr>
            <p:ph type="title"/>
          </p:nvPr>
        </p:nvSpPr>
        <p:spPr/>
        <p:txBody>
          <a:bodyPr/>
          <a:lstStyle/>
          <a:p>
            <a:r>
              <a:rPr kumimoji="1" lang="ja-JP" altLang="en-US" dirty="0"/>
              <a:t>開発スケジュール：実際の結果</a:t>
            </a:r>
          </a:p>
        </p:txBody>
      </p:sp>
      <p:graphicFrame>
        <p:nvGraphicFramePr>
          <p:cNvPr id="19" name="表 18">
            <a:extLst>
              <a:ext uri="{FF2B5EF4-FFF2-40B4-BE49-F238E27FC236}">
                <a16:creationId xmlns:a16="http://schemas.microsoft.com/office/drawing/2014/main" id="{E06F8862-3D05-7110-A2BA-0149E4AC7909}"/>
              </a:ext>
            </a:extLst>
          </p:cNvPr>
          <p:cNvGraphicFramePr>
            <a:graphicFrameLocks noGrp="1"/>
          </p:cNvGraphicFramePr>
          <p:nvPr>
            <p:extLst>
              <p:ext uri="{D42A27DB-BD31-4B8C-83A1-F6EECF244321}">
                <p14:modId xmlns:p14="http://schemas.microsoft.com/office/powerpoint/2010/main" val="3591193199"/>
              </p:ext>
            </p:extLst>
          </p:nvPr>
        </p:nvGraphicFramePr>
        <p:xfrm>
          <a:off x="512064" y="2077720"/>
          <a:ext cx="11167872" cy="1107440"/>
        </p:xfrm>
        <a:graphic>
          <a:graphicData uri="http://schemas.openxmlformats.org/drawingml/2006/table">
            <a:tbl>
              <a:tblPr firstRow="1" bandRow="1">
                <a:tableStyleId>{5C22544A-7EE6-4342-B048-85BDC9FD1C3A}</a:tableStyleId>
              </a:tblPr>
              <a:tblGrid>
                <a:gridCol w="3722624">
                  <a:extLst>
                    <a:ext uri="{9D8B030D-6E8A-4147-A177-3AD203B41FA5}">
                      <a16:colId xmlns:a16="http://schemas.microsoft.com/office/drawing/2014/main" val="2731533672"/>
                    </a:ext>
                  </a:extLst>
                </a:gridCol>
                <a:gridCol w="3722624">
                  <a:extLst>
                    <a:ext uri="{9D8B030D-6E8A-4147-A177-3AD203B41FA5}">
                      <a16:colId xmlns:a16="http://schemas.microsoft.com/office/drawing/2014/main" val="2476408464"/>
                    </a:ext>
                  </a:extLst>
                </a:gridCol>
                <a:gridCol w="3722624">
                  <a:extLst>
                    <a:ext uri="{9D8B030D-6E8A-4147-A177-3AD203B41FA5}">
                      <a16:colId xmlns:a16="http://schemas.microsoft.com/office/drawing/2014/main" val="4131327806"/>
                    </a:ext>
                  </a:extLst>
                </a:gridCol>
              </a:tblGrid>
              <a:tr h="370840">
                <a:tc>
                  <a:txBody>
                    <a:bodyPr/>
                    <a:lstStyle/>
                    <a:p>
                      <a:r>
                        <a:rPr kumimoji="1" lang="en-US" altLang="ja-JP" dirty="0"/>
                        <a:t>5/20</a:t>
                      </a:r>
                      <a:endParaRPr kumimoji="1" lang="ja-JP" altLang="en-US" dirty="0"/>
                    </a:p>
                  </a:txBody>
                  <a:tcPr/>
                </a:tc>
                <a:tc>
                  <a:txBody>
                    <a:bodyPr/>
                    <a:lstStyle/>
                    <a:p>
                      <a:r>
                        <a:rPr kumimoji="1" lang="en-US" altLang="ja-JP" dirty="0"/>
                        <a:t>5/21</a:t>
                      </a:r>
                      <a:endParaRPr kumimoji="1" lang="ja-JP" altLang="en-US" dirty="0"/>
                    </a:p>
                  </a:txBody>
                  <a:tcPr/>
                </a:tc>
                <a:tc>
                  <a:txBody>
                    <a:bodyPr/>
                    <a:lstStyle/>
                    <a:p>
                      <a:r>
                        <a:rPr kumimoji="1" lang="en-US" altLang="ja-JP" dirty="0"/>
                        <a:t>5/22</a:t>
                      </a:r>
                      <a:endParaRPr kumimoji="1" lang="ja-JP" altLang="en-US" dirty="0"/>
                    </a:p>
                  </a:txBody>
                  <a:tcPr/>
                </a:tc>
                <a:extLst>
                  <a:ext uri="{0D108BD9-81ED-4DB2-BD59-A6C34878D82A}">
                    <a16:rowId xmlns:a16="http://schemas.microsoft.com/office/drawing/2014/main" val="1998411341"/>
                  </a:ext>
                </a:extLst>
              </a:tr>
              <a:tr h="370840">
                <a:tc>
                  <a:txBody>
                    <a:bodyPr/>
                    <a:lstStyle/>
                    <a:p>
                      <a:r>
                        <a:rPr kumimoji="1" lang="en-US" altLang="ja-JP" b="1" dirty="0"/>
                        <a:t>ER</a:t>
                      </a:r>
                      <a:r>
                        <a:rPr kumimoji="1" lang="ja-JP" altLang="en-US" b="1" dirty="0"/>
                        <a:t>図の作成</a:t>
                      </a:r>
                      <a:endParaRPr kumimoji="1" lang="en-US" altLang="ja-JP" b="1" dirty="0"/>
                    </a:p>
                  </a:txBody>
                  <a:tcPr/>
                </a:tc>
                <a:tc>
                  <a:txBody>
                    <a:bodyPr/>
                    <a:lstStyle/>
                    <a:p>
                      <a:r>
                        <a:rPr kumimoji="1" lang="en-US" altLang="ja-JP" b="1" dirty="0"/>
                        <a:t>Web</a:t>
                      </a:r>
                      <a:r>
                        <a:rPr kumimoji="1" lang="ja-JP" altLang="en-US" b="1" dirty="0"/>
                        <a:t>アプリケーションの作成</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b="1" strike="noStrike" dirty="0">
                          <a:solidFill>
                            <a:schemeClr val="tx1"/>
                          </a:solidFill>
                        </a:rPr>
                        <a:t>テーブル定義書の作成</a:t>
                      </a:r>
                    </a:p>
                  </a:txBody>
                  <a:tcPr/>
                </a:tc>
                <a:extLst>
                  <a:ext uri="{0D108BD9-81ED-4DB2-BD59-A6C34878D82A}">
                    <a16:rowId xmlns:a16="http://schemas.microsoft.com/office/drawing/2014/main" val="756373104"/>
                  </a:ext>
                </a:extLst>
              </a:tr>
              <a:tr h="264160">
                <a:tc>
                  <a:txBody>
                    <a:bodyPr/>
                    <a:lstStyle/>
                    <a:p>
                      <a:endParaRPr kumimoji="1" lang="ja-JP" altLang="en-US" dirty="0">
                        <a:solidFill>
                          <a:schemeClr val="tx1"/>
                        </a:solidFill>
                      </a:endParaRPr>
                    </a:p>
                  </a:txBody>
                  <a:tcPr/>
                </a:tc>
                <a:tc>
                  <a:txBody>
                    <a:bodyPr/>
                    <a:lstStyle/>
                    <a:p>
                      <a:r>
                        <a:rPr kumimoji="1" lang="ja-JP" altLang="en-US" b="1" strike="noStrike" dirty="0">
                          <a:solidFill>
                            <a:schemeClr val="tx1"/>
                          </a:solidFill>
                        </a:rPr>
                        <a:t>社員登録機能の開発</a:t>
                      </a:r>
                    </a:p>
                  </a:txBody>
                  <a:tcPr/>
                </a:tc>
                <a:tc>
                  <a:txBody>
                    <a:bodyPr/>
                    <a:lstStyle/>
                    <a:p>
                      <a:r>
                        <a:rPr kumimoji="1" lang="ja-JP" altLang="en-US" b="1" strike="noStrike" dirty="0">
                          <a:solidFill>
                            <a:schemeClr val="tx1"/>
                          </a:solidFill>
                        </a:rPr>
                        <a:t>部署登録機能の開発</a:t>
                      </a:r>
                    </a:p>
                  </a:txBody>
                  <a:tcPr/>
                </a:tc>
                <a:extLst>
                  <a:ext uri="{0D108BD9-81ED-4DB2-BD59-A6C34878D82A}">
                    <a16:rowId xmlns:a16="http://schemas.microsoft.com/office/drawing/2014/main" val="3779446826"/>
                  </a:ext>
                </a:extLst>
              </a:tr>
            </a:tbl>
          </a:graphicData>
        </a:graphic>
      </p:graphicFrame>
      <p:graphicFrame>
        <p:nvGraphicFramePr>
          <p:cNvPr id="20" name="表 19">
            <a:extLst>
              <a:ext uri="{FF2B5EF4-FFF2-40B4-BE49-F238E27FC236}">
                <a16:creationId xmlns:a16="http://schemas.microsoft.com/office/drawing/2014/main" id="{A5768BF0-9C77-8781-3879-785E0A39662B}"/>
              </a:ext>
            </a:extLst>
          </p:cNvPr>
          <p:cNvGraphicFramePr>
            <a:graphicFrameLocks noGrp="1"/>
          </p:cNvGraphicFramePr>
          <p:nvPr>
            <p:extLst>
              <p:ext uri="{D42A27DB-BD31-4B8C-83A1-F6EECF244321}">
                <p14:modId xmlns:p14="http://schemas.microsoft.com/office/powerpoint/2010/main" val="2256866891"/>
              </p:ext>
            </p:extLst>
          </p:nvPr>
        </p:nvGraphicFramePr>
        <p:xfrm>
          <a:off x="536448" y="4322402"/>
          <a:ext cx="11167872" cy="1112520"/>
        </p:xfrm>
        <a:graphic>
          <a:graphicData uri="http://schemas.openxmlformats.org/drawingml/2006/table">
            <a:tbl>
              <a:tblPr firstRow="1" bandRow="1">
                <a:tableStyleId>{5C22544A-7EE6-4342-B048-85BDC9FD1C3A}</a:tableStyleId>
              </a:tblPr>
              <a:tblGrid>
                <a:gridCol w="3722624">
                  <a:extLst>
                    <a:ext uri="{9D8B030D-6E8A-4147-A177-3AD203B41FA5}">
                      <a16:colId xmlns:a16="http://schemas.microsoft.com/office/drawing/2014/main" val="2731533672"/>
                    </a:ext>
                  </a:extLst>
                </a:gridCol>
                <a:gridCol w="3722624">
                  <a:extLst>
                    <a:ext uri="{9D8B030D-6E8A-4147-A177-3AD203B41FA5}">
                      <a16:colId xmlns:a16="http://schemas.microsoft.com/office/drawing/2014/main" val="2476408464"/>
                    </a:ext>
                  </a:extLst>
                </a:gridCol>
                <a:gridCol w="3722624">
                  <a:extLst>
                    <a:ext uri="{9D8B030D-6E8A-4147-A177-3AD203B41FA5}">
                      <a16:colId xmlns:a16="http://schemas.microsoft.com/office/drawing/2014/main" val="4131327806"/>
                    </a:ext>
                  </a:extLst>
                </a:gridCol>
              </a:tblGrid>
              <a:tr h="370840">
                <a:tc>
                  <a:txBody>
                    <a:bodyPr/>
                    <a:lstStyle/>
                    <a:p>
                      <a:r>
                        <a:rPr kumimoji="1" lang="en-US" altLang="ja-JP" dirty="0"/>
                        <a:t>5/25</a:t>
                      </a:r>
                      <a:endParaRPr kumimoji="1" lang="ja-JP" altLang="en-US" dirty="0"/>
                    </a:p>
                  </a:txBody>
                  <a:tcPr/>
                </a:tc>
                <a:tc>
                  <a:txBody>
                    <a:bodyPr/>
                    <a:lstStyle/>
                    <a:p>
                      <a:r>
                        <a:rPr kumimoji="1" lang="en-US" altLang="ja-JP" dirty="0"/>
                        <a:t>5/26</a:t>
                      </a:r>
                      <a:endParaRPr kumimoji="1" lang="ja-JP" altLang="en-US" dirty="0"/>
                    </a:p>
                  </a:txBody>
                  <a:tcPr/>
                </a:tc>
                <a:tc>
                  <a:txBody>
                    <a:bodyPr/>
                    <a:lstStyle/>
                    <a:p>
                      <a:r>
                        <a:rPr kumimoji="1" lang="en-US" altLang="ja-JP" dirty="0"/>
                        <a:t>5/27</a:t>
                      </a:r>
                      <a:endParaRPr kumimoji="1" lang="ja-JP" altLang="en-US" dirty="0"/>
                    </a:p>
                  </a:txBody>
                  <a:tcPr/>
                </a:tc>
                <a:extLst>
                  <a:ext uri="{0D108BD9-81ED-4DB2-BD59-A6C34878D82A}">
                    <a16:rowId xmlns:a16="http://schemas.microsoft.com/office/drawing/2014/main" val="199841134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b="1" strike="noStrike" dirty="0">
                          <a:solidFill>
                            <a:schemeClr val="tx1"/>
                          </a:solidFill>
                        </a:rPr>
                        <a:t>社員登録ブラックボックステスト</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b="1" strike="noStrike" dirty="0">
                          <a:solidFill>
                            <a:schemeClr val="tx1"/>
                          </a:solidFill>
                        </a:rPr>
                        <a:t>部署一覧表示の開発</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b="1" dirty="0">
                          <a:solidFill>
                            <a:schemeClr val="tx1"/>
                          </a:solidFill>
                        </a:rPr>
                        <a:t>部署登録ブラックボックステスト</a:t>
                      </a:r>
                    </a:p>
                  </a:txBody>
                  <a:tcPr/>
                </a:tc>
                <a:extLst>
                  <a:ext uri="{0D108BD9-81ED-4DB2-BD59-A6C34878D82A}">
                    <a16:rowId xmlns:a16="http://schemas.microsoft.com/office/drawing/2014/main" val="756373104"/>
                  </a:ext>
                </a:extLst>
              </a:tr>
              <a:tr h="370840">
                <a:tc>
                  <a:txBody>
                    <a:bodyPr/>
                    <a:lstStyle/>
                    <a:p>
                      <a:endParaRPr kumimoji="1" lang="ja-JP" altLang="en-US" strike="sngStrike" dirty="0"/>
                    </a:p>
                  </a:txBody>
                  <a:tcPr/>
                </a:tc>
                <a:tc>
                  <a:txBody>
                    <a:bodyPr/>
                    <a:lstStyle/>
                    <a:p>
                      <a:endParaRPr kumimoji="1" lang="en-US" altLang="ja-JP" strike="sngStrike" dirty="0"/>
                    </a:p>
                  </a:txBody>
                  <a:tcPr/>
                </a:tc>
                <a:tc>
                  <a:txBody>
                    <a:bodyPr/>
                    <a:lstStyle/>
                    <a:p>
                      <a:r>
                        <a:rPr kumimoji="1" lang="ja-JP" altLang="en-US" b="1" dirty="0">
                          <a:solidFill>
                            <a:schemeClr val="tx1"/>
                          </a:solidFill>
                        </a:rPr>
                        <a:t>社員一覧表示の開発</a:t>
                      </a:r>
                    </a:p>
                  </a:txBody>
                  <a:tcPr/>
                </a:tc>
                <a:extLst>
                  <a:ext uri="{0D108BD9-81ED-4DB2-BD59-A6C34878D82A}">
                    <a16:rowId xmlns:a16="http://schemas.microsoft.com/office/drawing/2014/main" val="3624948085"/>
                  </a:ext>
                </a:extLst>
              </a:tr>
            </a:tbl>
          </a:graphicData>
        </a:graphic>
      </p:graphicFrame>
    </p:spTree>
    <p:extLst>
      <p:ext uri="{BB962C8B-B14F-4D97-AF65-F5344CB8AC3E}">
        <p14:creationId xmlns:p14="http://schemas.microsoft.com/office/powerpoint/2010/main" val="33740710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D6F64-7AD4-505A-A4F4-911A9976E6F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1AD41EC-9B43-BFD8-D717-7F922BDA0371}"/>
              </a:ext>
            </a:extLst>
          </p:cNvPr>
          <p:cNvSpPr>
            <a:spLocks noGrp="1"/>
          </p:cNvSpPr>
          <p:nvPr>
            <p:ph type="title"/>
          </p:nvPr>
        </p:nvSpPr>
        <p:spPr/>
        <p:txBody>
          <a:bodyPr/>
          <a:lstStyle/>
          <a:p>
            <a:r>
              <a:rPr kumimoji="1" lang="ja-JP" altLang="en-US" dirty="0"/>
              <a:t>成果物</a:t>
            </a:r>
          </a:p>
        </p:txBody>
      </p:sp>
      <p:sp>
        <p:nvSpPr>
          <p:cNvPr id="5" name="コンテンツ プレースホルダー 4">
            <a:extLst>
              <a:ext uri="{FF2B5EF4-FFF2-40B4-BE49-F238E27FC236}">
                <a16:creationId xmlns:a16="http://schemas.microsoft.com/office/drawing/2014/main" id="{FB80AA6C-03DD-D2C3-86FA-E1609E826020}"/>
              </a:ext>
            </a:extLst>
          </p:cNvPr>
          <p:cNvSpPr>
            <a:spLocks noGrp="1"/>
          </p:cNvSpPr>
          <p:nvPr>
            <p:ph idx="1"/>
          </p:nvPr>
        </p:nvSpPr>
        <p:spPr/>
        <p:txBody>
          <a:bodyPr/>
          <a:lstStyle/>
          <a:p>
            <a:endParaRPr lang="ja-JP" altLang="en-US"/>
          </a:p>
        </p:txBody>
      </p:sp>
    </p:spTree>
    <p:extLst>
      <p:ext uri="{BB962C8B-B14F-4D97-AF65-F5344CB8AC3E}">
        <p14:creationId xmlns:p14="http://schemas.microsoft.com/office/powerpoint/2010/main" val="2257113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845168C7-B063-73C4-5CD6-93367B7F60BD}"/>
              </a:ext>
            </a:extLst>
          </p:cNvPr>
          <p:cNvSpPr/>
          <p:nvPr/>
        </p:nvSpPr>
        <p:spPr>
          <a:xfrm>
            <a:off x="-97536" y="0"/>
            <a:ext cx="12606528" cy="699820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pic>
        <p:nvPicPr>
          <p:cNvPr id="15" name="コンテンツ プレースホルダー 14">
            <a:extLst>
              <a:ext uri="{FF2B5EF4-FFF2-40B4-BE49-F238E27FC236}">
                <a16:creationId xmlns:a16="http://schemas.microsoft.com/office/drawing/2014/main" id="{AD76A27E-1F03-A894-EE50-AA26BF74653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8277" y="72055"/>
            <a:ext cx="10132437" cy="6785945"/>
          </a:xfrm>
          <a:prstGeom prst="rect">
            <a:avLst/>
          </a:prstGeom>
        </p:spPr>
      </p:pic>
    </p:spTree>
    <p:extLst>
      <p:ext uri="{BB962C8B-B14F-4D97-AF65-F5344CB8AC3E}">
        <p14:creationId xmlns:p14="http://schemas.microsoft.com/office/powerpoint/2010/main" val="1342356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A1DDA-8F2D-8746-CCAB-4357005280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C939A34-5277-1403-8164-F93D14B2E046}"/>
              </a:ext>
            </a:extLst>
          </p:cNvPr>
          <p:cNvSpPr>
            <a:spLocks noGrp="1"/>
          </p:cNvSpPr>
          <p:nvPr>
            <p:ph type="title"/>
          </p:nvPr>
        </p:nvSpPr>
        <p:spPr/>
        <p:txBody>
          <a:bodyPr/>
          <a:lstStyle/>
          <a:p>
            <a:r>
              <a:rPr kumimoji="1" lang="ja-JP" altLang="en-US" dirty="0"/>
              <a:t>成果物デモンストレーション</a:t>
            </a:r>
          </a:p>
        </p:txBody>
      </p:sp>
      <p:pic>
        <p:nvPicPr>
          <p:cNvPr id="5" name="図 4">
            <a:extLst>
              <a:ext uri="{FF2B5EF4-FFF2-40B4-BE49-F238E27FC236}">
                <a16:creationId xmlns:a16="http://schemas.microsoft.com/office/drawing/2014/main" id="{2418A142-37C3-45AB-5C26-BA5495902595}"/>
              </a:ext>
            </a:extLst>
          </p:cNvPr>
          <p:cNvPicPr>
            <a:picLocks noChangeAspect="1"/>
          </p:cNvPicPr>
          <p:nvPr/>
        </p:nvPicPr>
        <p:blipFill>
          <a:blip r:embed="rId2"/>
          <a:srcRect b="12641"/>
          <a:stretch>
            <a:fillRect/>
          </a:stretch>
        </p:blipFill>
        <p:spPr>
          <a:xfrm>
            <a:off x="1621535" y="2757358"/>
            <a:ext cx="9662161" cy="3765362"/>
          </a:xfrm>
          <a:prstGeom prst="rect">
            <a:avLst/>
          </a:prstGeom>
        </p:spPr>
      </p:pic>
      <p:sp>
        <p:nvSpPr>
          <p:cNvPr id="6" name="タイトル 1">
            <a:extLst>
              <a:ext uri="{FF2B5EF4-FFF2-40B4-BE49-F238E27FC236}">
                <a16:creationId xmlns:a16="http://schemas.microsoft.com/office/drawing/2014/main" id="{4AA4FEAB-4011-F801-C985-A62E5E6E4979}"/>
              </a:ext>
            </a:extLst>
          </p:cNvPr>
          <p:cNvSpPr txBox="1">
            <a:spLocks/>
          </p:cNvSpPr>
          <p:nvPr/>
        </p:nvSpPr>
        <p:spPr>
          <a:xfrm>
            <a:off x="512064" y="1728216"/>
            <a:ext cx="10168128" cy="1179576"/>
          </a:xfrm>
          <a:prstGeom prst="rect">
            <a:avLst/>
          </a:prstGeom>
        </p:spPr>
        <p:txBody>
          <a:bodyPr lIns="109728" tIns="109728" rIns="109728" bIns="91440" anchor="ctr">
            <a:normAutofit/>
          </a:bodyPr>
          <a:lstStyle>
            <a:lvl1pPr algn="l" defTabSz="914400" rtl="0" eaLnBrk="1" latinLnBrk="0" hangingPunct="1">
              <a:lnSpc>
                <a:spcPct val="105000"/>
              </a:lnSpc>
              <a:spcBef>
                <a:spcPct val="0"/>
              </a:spcBef>
              <a:buNone/>
              <a:defRPr sz="4000" kern="1200" spc="180">
                <a:solidFill>
                  <a:schemeClr val="tx1"/>
                </a:solidFill>
                <a:latin typeface="+mj-lt"/>
                <a:ea typeface="+mj-ea"/>
                <a:cs typeface="+mj-cs"/>
              </a:defRPr>
            </a:lvl1pPr>
          </a:lstStyle>
          <a:p>
            <a:r>
              <a:rPr kumimoji="1" lang="ja-JP" altLang="en-US" sz="3200" dirty="0"/>
              <a:t>ホーム画面</a:t>
            </a:r>
          </a:p>
        </p:txBody>
      </p:sp>
    </p:spTree>
    <p:extLst>
      <p:ext uri="{BB962C8B-B14F-4D97-AF65-F5344CB8AC3E}">
        <p14:creationId xmlns:p14="http://schemas.microsoft.com/office/powerpoint/2010/main" val="3217165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BAD32-9232-DEB4-E4F8-53835AB09A3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FD27654-C117-EA7B-DA88-43594D57451B}"/>
              </a:ext>
            </a:extLst>
          </p:cNvPr>
          <p:cNvSpPr>
            <a:spLocks noGrp="1"/>
          </p:cNvSpPr>
          <p:nvPr>
            <p:ph type="title"/>
          </p:nvPr>
        </p:nvSpPr>
        <p:spPr/>
        <p:txBody>
          <a:bodyPr/>
          <a:lstStyle/>
          <a:p>
            <a:r>
              <a:rPr kumimoji="1" lang="ja-JP" altLang="en-US" dirty="0"/>
              <a:t>成果物デモンストレーション</a:t>
            </a:r>
          </a:p>
        </p:txBody>
      </p:sp>
      <p:sp>
        <p:nvSpPr>
          <p:cNvPr id="3" name="タイトル 1">
            <a:extLst>
              <a:ext uri="{FF2B5EF4-FFF2-40B4-BE49-F238E27FC236}">
                <a16:creationId xmlns:a16="http://schemas.microsoft.com/office/drawing/2014/main" id="{4F7861F1-436A-3F03-AF8D-D92D561F949E}"/>
              </a:ext>
            </a:extLst>
          </p:cNvPr>
          <p:cNvSpPr txBox="1">
            <a:spLocks/>
          </p:cNvSpPr>
          <p:nvPr/>
        </p:nvSpPr>
        <p:spPr>
          <a:xfrm>
            <a:off x="512064" y="1728216"/>
            <a:ext cx="10168128" cy="1179576"/>
          </a:xfrm>
          <a:prstGeom prst="rect">
            <a:avLst/>
          </a:prstGeom>
        </p:spPr>
        <p:txBody>
          <a:bodyPr lIns="109728" tIns="109728" rIns="109728" bIns="91440" anchor="ctr">
            <a:normAutofit/>
          </a:bodyPr>
          <a:lstStyle>
            <a:lvl1pPr algn="l" defTabSz="914400" rtl="0" eaLnBrk="1" latinLnBrk="0" hangingPunct="1">
              <a:lnSpc>
                <a:spcPct val="105000"/>
              </a:lnSpc>
              <a:spcBef>
                <a:spcPct val="0"/>
              </a:spcBef>
              <a:buNone/>
              <a:defRPr sz="4000" kern="1200" spc="180">
                <a:solidFill>
                  <a:schemeClr val="tx1"/>
                </a:solidFill>
                <a:latin typeface="+mj-lt"/>
                <a:ea typeface="+mj-ea"/>
                <a:cs typeface="+mj-cs"/>
              </a:defRPr>
            </a:lvl1pPr>
          </a:lstStyle>
          <a:p>
            <a:r>
              <a:rPr kumimoji="1" lang="ja-JP" altLang="en-US" sz="3200" dirty="0"/>
              <a:t>部署情報登録機能</a:t>
            </a:r>
          </a:p>
        </p:txBody>
      </p:sp>
      <p:pic>
        <p:nvPicPr>
          <p:cNvPr id="5" name="図 4">
            <a:extLst>
              <a:ext uri="{FF2B5EF4-FFF2-40B4-BE49-F238E27FC236}">
                <a16:creationId xmlns:a16="http://schemas.microsoft.com/office/drawing/2014/main" id="{B4D6B06A-FD70-57E8-8632-A4CFA5D69C30}"/>
              </a:ext>
            </a:extLst>
          </p:cNvPr>
          <p:cNvPicPr>
            <a:picLocks noChangeAspect="1"/>
          </p:cNvPicPr>
          <p:nvPr/>
        </p:nvPicPr>
        <p:blipFill>
          <a:blip r:embed="rId2"/>
          <a:stretch>
            <a:fillRect/>
          </a:stretch>
        </p:blipFill>
        <p:spPr>
          <a:xfrm>
            <a:off x="2474732" y="2730682"/>
            <a:ext cx="2342011" cy="1524424"/>
          </a:xfrm>
          <a:prstGeom prst="rect">
            <a:avLst/>
          </a:prstGeom>
          <a:ln>
            <a:noFill/>
          </a:ln>
        </p:spPr>
      </p:pic>
      <p:pic>
        <p:nvPicPr>
          <p:cNvPr id="7" name="図 6">
            <a:extLst>
              <a:ext uri="{FF2B5EF4-FFF2-40B4-BE49-F238E27FC236}">
                <a16:creationId xmlns:a16="http://schemas.microsoft.com/office/drawing/2014/main" id="{ED495450-6BBC-6133-8938-C2202294AE83}"/>
              </a:ext>
            </a:extLst>
          </p:cNvPr>
          <p:cNvPicPr>
            <a:picLocks noChangeAspect="1"/>
          </p:cNvPicPr>
          <p:nvPr/>
        </p:nvPicPr>
        <p:blipFill>
          <a:blip r:embed="rId3"/>
          <a:stretch>
            <a:fillRect/>
          </a:stretch>
        </p:blipFill>
        <p:spPr>
          <a:xfrm>
            <a:off x="281696" y="2729281"/>
            <a:ext cx="1907455" cy="1527927"/>
          </a:xfrm>
          <a:prstGeom prst="rect">
            <a:avLst/>
          </a:prstGeom>
          <a:ln>
            <a:noFill/>
          </a:ln>
        </p:spPr>
      </p:pic>
      <p:pic>
        <p:nvPicPr>
          <p:cNvPr id="9" name="図 8">
            <a:extLst>
              <a:ext uri="{FF2B5EF4-FFF2-40B4-BE49-F238E27FC236}">
                <a16:creationId xmlns:a16="http://schemas.microsoft.com/office/drawing/2014/main" id="{2DAA51A1-687D-3B1A-BA8C-1B98E554EEC1}"/>
              </a:ext>
            </a:extLst>
          </p:cNvPr>
          <p:cNvPicPr>
            <a:picLocks noChangeAspect="1"/>
          </p:cNvPicPr>
          <p:nvPr/>
        </p:nvPicPr>
        <p:blipFill>
          <a:blip r:embed="rId4"/>
          <a:stretch>
            <a:fillRect/>
          </a:stretch>
        </p:blipFill>
        <p:spPr>
          <a:xfrm>
            <a:off x="5159829" y="2704537"/>
            <a:ext cx="2777395" cy="1448926"/>
          </a:xfrm>
          <a:prstGeom prst="rect">
            <a:avLst/>
          </a:prstGeom>
          <a:ln>
            <a:noFill/>
          </a:ln>
        </p:spPr>
      </p:pic>
      <p:pic>
        <p:nvPicPr>
          <p:cNvPr id="11" name="図 10">
            <a:extLst>
              <a:ext uri="{FF2B5EF4-FFF2-40B4-BE49-F238E27FC236}">
                <a16:creationId xmlns:a16="http://schemas.microsoft.com/office/drawing/2014/main" id="{00BF46A8-6FA2-1D6D-722F-7E2D98B436A2}"/>
              </a:ext>
            </a:extLst>
          </p:cNvPr>
          <p:cNvPicPr>
            <a:picLocks noChangeAspect="1"/>
          </p:cNvPicPr>
          <p:nvPr/>
        </p:nvPicPr>
        <p:blipFill>
          <a:blip r:embed="rId5"/>
          <a:stretch>
            <a:fillRect/>
          </a:stretch>
        </p:blipFill>
        <p:spPr>
          <a:xfrm>
            <a:off x="8211117" y="2695393"/>
            <a:ext cx="3003386" cy="2362853"/>
          </a:xfrm>
          <a:prstGeom prst="rect">
            <a:avLst/>
          </a:prstGeom>
          <a:ln>
            <a:noFill/>
          </a:ln>
        </p:spPr>
      </p:pic>
      <p:pic>
        <p:nvPicPr>
          <p:cNvPr id="13" name="図 12">
            <a:extLst>
              <a:ext uri="{FF2B5EF4-FFF2-40B4-BE49-F238E27FC236}">
                <a16:creationId xmlns:a16="http://schemas.microsoft.com/office/drawing/2014/main" id="{2DE3BA08-BDA8-BFBA-24DA-25A595939ECC}"/>
              </a:ext>
            </a:extLst>
          </p:cNvPr>
          <p:cNvPicPr>
            <a:picLocks noChangeAspect="1"/>
          </p:cNvPicPr>
          <p:nvPr/>
        </p:nvPicPr>
        <p:blipFill>
          <a:blip r:embed="rId6"/>
          <a:stretch>
            <a:fillRect/>
          </a:stretch>
        </p:blipFill>
        <p:spPr>
          <a:xfrm>
            <a:off x="2479190" y="4471934"/>
            <a:ext cx="2337553" cy="1837426"/>
          </a:xfrm>
          <a:prstGeom prst="rect">
            <a:avLst/>
          </a:prstGeom>
          <a:ln>
            <a:noFill/>
          </a:ln>
        </p:spPr>
      </p:pic>
    </p:spTree>
    <p:extLst>
      <p:ext uri="{BB962C8B-B14F-4D97-AF65-F5344CB8AC3E}">
        <p14:creationId xmlns:p14="http://schemas.microsoft.com/office/powerpoint/2010/main" val="16857979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A6C84-A12B-A091-A1F3-5272B288E9E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E5BC1F4-7771-F823-D802-0B906D3F0EC2}"/>
              </a:ext>
            </a:extLst>
          </p:cNvPr>
          <p:cNvSpPr>
            <a:spLocks noGrp="1"/>
          </p:cNvSpPr>
          <p:nvPr>
            <p:ph type="title"/>
          </p:nvPr>
        </p:nvSpPr>
        <p:spPr/>
        <p:txBody>
          <a:bodyPr/>
          <a:lstStyle/>
          <a:p>
            <a:r>
              <a:rPr kumimoji="1" lang="ja-JP" altLang="en-US" dirty="0"/>
              <a:t>成果物デモンストレーション</a:t>
            </a:r>
          </a:p>
        </p:txBody>
      </p:sp>
      <p:sp>
        <p:nvSpPr>
          <p:cNvPr id="3" name="タイトル 1">
            <a:extLst>
              <a:ext uri="{FF2B5EF4-FFF2-40B4-BE49-F238E27FC236}">
                <a16:creationId xmlns:a16="http://schemas.microsoft.com/office/drawing/2014/main" id="{FEB16538-B08E-3685-CEDF-AB4E610E23E2}"/>
              </a:ext>
            </a:extLst>
          </p:cNvPr>
          <p:cNvSpPr txBox="1">
            <a:spLocks/>
          </p:cNvSpPr>
          <p:nvPr/>
        </p:nvSpPr>
        <p:spPr>
          <a:xfrm>
            <a:off x="512064" y="1728216"/>
            <a:ext cx="10168128" cy="1179576"/>
          </a:xfrm>
          <a:prstGeom prst="rect">
            <a:avLst/>
          </a:prstGeom>
        </p:spPr>
        <p:txBody>
          <a:bodyPr lIns="109728" tIns="109728" rIns="109728" bIns="91440" anchor="ctr">
            <a:normAutofit/>
          </a:bodyPr>
          <a:lstStyle>
            <a:lvl1pPr algn="l" defTabSz="914400" rtl="0" eaLnBrk="1" latinLnBrk="0" hangingPunct="1">
              <a:lnSpc>
                <a:spcPct val="105000"/>
              </a:lnSpc>
              <a:spcBef>
                <a:spcPct val="0"/>
              </a:spcBef>
              <a:buNone/>
              <a:defRPr sz="4000" kern="1200" spc="180">
                <a:solidFill>
                  <a:schemeClr val="tx1"/>
                </a:solidFill>
                <a:latin typeface="+mj-lt"/>
                <a:ea typeface="+mj-ea"/>
                <a:cs typeface="+mj-cs"/>
              </a:defRPr>
            </a:lvl1pPr>
          </a:lstStyle>
          <a:p>
            <a:r>
              <a:rPr kumimoji="1" lang="ja-JP" altLang="en-US" sz="3200" dirty="0"/>
              <a:t>部署一覧表示機能</a:t>
            </a:r>
          </a:p>
        </p:txBody>
      </p:sp>
      <p:pic>
        <p:nvPicPr>
          <p:cNvPr id="6" name="図 5">
            <a:extLst>
              <a:ext uri="{FF2B5EF4-FFF2-40B4-BE49-F238E27FC236}">
                <a16:creationId xmlns:a16="http://schemas.microsoft.com/office/drawing/2014/main" id="{E9A0F810-F323-CA4D-4C75-3B0B410E06DA}"/>
              </a:ext>
            </a:extLst>
          </p:cNvPr>
          <p:cNvPicPr>
            <a:picLocks noChangeAspect="1"/>
          </p:cNvPicPr>
          <p:nvPr/>
        </p:nvPicPr>
        <p:blipFill>
          <a:blip r:embed="rId2"/>
          <a:stretch>
            <a:fillRect/>
          </a:stretch>
        </p:blipFill>
        <p:spPr>
          <a:xfrm>
            <a:off x="329184" y="2593596"/>
            <a:ext cx="7363968" cy="3715764"/>
          </a:xfrm>
          <a:prstGeom prst="rect">
            <a:avLst/>
          </a:prstGeom>
        </p:spPr>
      </p:pic>
    </p:spTree>
    <p:extLst>
      <p:ext uri="{BB962C8B-B14F-4D97-AF65-F5344CB8AC3E}">
        <p14:creationId xmlns:p14="http://schemas.microsoft.com/office/powerpoint/2010/main" val="36046445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3DC7B-FBED-2E9F-CF7F-AE7E0C2D8C1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B58124C-52FD-DF0E-1D19-0A4EC73717B4}"/>
              </a:ext>
            </a:extLst>
          </p:cNvPr>
          <p:cNvSpPr>
            <a:spLocks noGrp="1"/>
          </p:cNvSpPr>
          <p:nvPr>
            <p:ph type="title"/>
          </p:nvPr>
        </p:nvSpPr>
        <p:spPr/>
        <p:txBody>
          <a:bodyPr/>
          <a:lstStyle/>
          <a:p>
            <a:r>
              <a:rPr kumimoji="1" lang="ja-JP" altLang="en-US" dirty="0"/>
              <a:t>成果物デモンストレーション</a:t>
            </a:r>
          </a:p>
        </p:txBody>
      </p:sp>
      <p:sp>
        <p:nvSpPr>
          <p:cNvPr id="3" name="タイトル 1">
            <a:extLst>
              <a:ext uri="{FF2B5EF4-FFF2-40B4-BE49-F238E27FC236}">
                <a16:creationId xmlns:a16="http://schemas.microsoft.com/office/drawing/2014/main" id="{8E6AD1E4-422C-B3D6-7974-BB5CB21C0D70}"/>
              </a:ext>
            </a:extLst>
          </p:cNvPr>
          <p:cNvSpPr txBox="1">
            <a:spLocks/>
          </p:cNvSpPr>
          <p:nvPr/>
        </p:nvSpPr>
        <p:spPr>
          <a:xfrm>
            <a:off x="512064" y="1728216"/>
            <a:ext cx="10168128" cy="1179576"/>
          </a:xfrm>
          <a:prstGeom prst="rect">
            <a:avLst/>
          </a:prstGeom>
        </p:spPr>
        <p:txBody>
          <a:bodyPr lIns="109728" tIns="109728" rIns="109728" bIns="91440" anchor="ctr">
            <a:normAutofit/>
          </a:bodyPr>
          <a:lstStyle>
            <a:lvl1pPr algn="l" defTabSz="914400" rtl="0" eaLnBrk="1" latinLnBrk="0" hangingPunct="1">
              <a:lnSpc>
                <a:spcPct val="105000"/>
              </a:lnSpc>
              <a:spcBef>
                <a:spcPct val="0"/>
              </a:spcBef>
              <a:buNone/>
              <a:defRPr sz="4000" kern="1200" spc="180">
                <a:solidFill>
                  <a:schemeClr val="tx1"/>
                </a:solidFill>
                <a:latin typeface="+mj-lt"/>
                <a:ea typeface="+mj-ea"/>
                <a:cs typeface="+mj-cs"/>
              </a:defRPr>
            </a:lvl1pPr>
          </a:lstStyle>
          <a:p>
            <a:r>
              <a:rPr kumimoji="1" lang="ja-JP" altLang="en-US" sz="3200" dirty="0"/>
              <a:t>社員情報登録機能</a:t>
            </a:r>
          </a:p>
        </p:txBody>
      </p:sp>
      <p:pic>
        <p:nvPicPr>
          <p:cNvPr id="6" name="図 5">
            <a:extLst>
              <a:ext uri="{FF2B5EF4-FFF2-40B4-BE49-F238E27FC236}">
                <a16:creationId xmlns:a16="http://schemas.microsoft.com/office/drawing/2014/main" id="{F4362788-49E0-A011-AD73-57E9EB2857F5}"/>
              </a:ext>
            </a:extLst>
          </p:cNvPr>
          <p:cNvPicPr>
            <a:picLocks noChangeAspect="1"/>
          </p:cNvPicPr>
          <p:nvPr/>
        </p:nvPicPr>
        <p:blipFill>
          <a:blip r:embed="rId3"/>
          <a:srcRect l="11806" r="9773"/>
          <a:stretch>
            <a:fillRect/>
          </a:stretch>
        </p:blipFill>
        <p:spPr>
          <a:xfrm>
            <a:off x="4570265" y="2510685"/>
            <a:ext cx="1691152" cy="2098053"/>
          </a:xfrm>
          <a:prstGeom prst="rect">
            <a:avLst/>
          </a:prstGeom>
          <a:ln>
            <a:solidFill>
              <a:schemeClr val="accent1"/>
            </a:solidFill>
          </a:ln>
        </p:spPr>
      </p:pic>
      <p:pic>
        <p:nvPicPr>
          <p:cNvPr id="10" name="図 9">
            <a:extLst>
              <a:ext uri="{FF2B5EF4-FFF2-40B4-BE49-F238E27FC236}">
                <a16:creationId xmlns:a16="http://schemas.microsoft.com/office/drawing/2014/main" id="{5FAF3746-9AA8-3500-BEC3-06FAC0F20ACD}"/>
              </a:ext>
            </a:extLst>
          </p:cNvPr>
          <p:cNvPicPr>
            <a:picLocks noChangeAspect="1"/>
          </p:cNvPicPr>
          <p:nvPr/>
        </p:nvPicPr>
        <p:blipFill>
          <a:blip r:embed="rId4">
            <a:extLst>
              <a:ext uri="{28A0092B-C50C-407E-A947-70E740481C1C}">
                <a14:useLocalDpi xmlns:a14="http://schemas.microsoft.com/office/drawing/2010/main" val="0"/>
              </a:ext>
            </a:extLst>
          </a:blip>
          <a:srcRect l="13259"/>
          <a:stretch>
            <a:fillRect/>
          </a:stretch>
        </p:blipFill>
        <p:spPr>
          <a:xfrm>
            <a:off x="261505" y="2510685"/>
            <a:ext cx="1870560" cy="2093169"/>
          </a:xfrm>
          <a:prstGeom prst="rect">
            <a:avLst/>
          </a:prstGeom>
          <a:ln>
            <a:solidFill>
              <a:schemeClr val="accent1"/>
            </a:solidFill>
          </a:ln>
        </p:spPr>
      </p:pic>
      <p:pic>
        <p:nvPicPr>
          <p:cNvPr id="14" name="図 13">
            <a:extLst>
              <a:ext uri="{FF2B5EF4-FFF2-40B4-BE49-F238E27FC236}">
                <a16:creationId xmlns:a16="http://schemas.microsoft.com/office/drawing/2014/main" id="{B10DA322-9502-7D14-9F38-337A9F18E5D4}"/>
              </a:ext>
            </a:extLst>
          </p:cNvPr>
          <p:cNvPicPr>
            <a:picLocks noChangeAspect="1"/>
          </p:cNvPicPr>
          <p:nvPr/>
        </p:nvPicPr>
        <p:blipFill>
          <a:blip r:embed="rId5">
            <a:extLst>
              <a:ext uri="{28A0092B-C50C-407E-A947-70E740481C1C}">
                <a14:useLocalDpi xmlns:a14="http://schemas.microsoft.com/office/drawing/2010/main" val="0"/>
              </a:ext>
            </a:extLst>
          </a:blip>
          <a:srcRect t="6467"/>
          <a:stretch>
            <a:fillRect/>
          </a:stretch>
        </p:blipFill>
        <p:spPr>
          <a:xfrm>
            <a:off x="2213144" y="2516963"/>
            <a:ext cx="2156503" cy="2057817"/>
          </a:xfrm>
          <a:prstGeom prst="rect">
            <a:avLst/>
          </a:prstGeom>
          <a:ln>
            <a:solidFill>
              <a:schemeClr val="accent1"/>
            </a:solidFill>
          </a:ln>
        </p:spPr>
      </p:pic>
      <p:pic>
        <p:nvPicPr>
          <p:cNvPr id="16" name="図 15">
            <a:extLst>
              <a:ext uri="{FF2B5EF4-FFF2-40B4-BE49-F238E27FC236}">
                <a16:creationId xmlns:a16="http://schemas.microsoft.com/office/drawing/2014/main" id="{65E5A1E5-0928-3D5A-9DE7-230F96EF2223}"/>
              </a:ext>
            </a:extLst>
          </p:cNvPr>
          <p:cNvPicPr>
            <a:picLocks noChangeAspect="1"/>
          </p:cNvPicPr>
          <p:nvPr/>
        </p:nvPicPr>
        <p:blipFill>
          <a:blip r:embed="rId6"/>
          <a:srcRect l="6346" r="9034"/>
          <a:stretch>
            <a:fillRect/>
          </a:stretch>
        </p:blipFill>
        <p:spPr>
          <a:xfrm>
            <a:off x="6462035" y="2510685"/>
            <a:ext cx="2387146" cy="1546592"/>
          </a:xfrm>
          <a:prstGeom prst="rect">
            <a:avLst/>
          </a:prstGeom>
          <a:ln>
            <a:solidFill>
              <a:schemeClr val="accent1"/>
            </a:solidFill>
          </a:ln>
        </p:spPr>
      </p:pic>
      <p:pic>
        <p:nvPicPr>
          <p:cNvPr id="18" name="図 17">
            <a:extLst>
              <a:ext uri="{FF2B5EF4-FFF2-40B4-BE49-F238E27FC236}">
                <a16:creationId xmlns:a16="http://schemas.microsoft.com/office/drawing/2014/main" id="{FDF544E9-9A8E-C4C1-E201-4F2728E55E9D}"/>
              </a:ext>
            </a:extLst>
          </p:cNvPr>
          <p:cNvPicPr>
            <a:picLocks noChangeAspect="1"/>
          </p:cNvPicPr>
          <p:nvPr/>
        </p:nvPicPr>
        <p:blipFill>
          <a:blip r:embed="rId7"/>
          <a:srcRect l="8285"/>
          <a:stretch>
            <a:fillRect/>
          </a:stretch>
        </p:blipFill>
        <p:spPr>
          <a:xfrm>
            <a:off x="9049799" y="2510685"/>
            <a:ext cx="2641977" cy="2271332"/>
          </a:xfrm>
          <a:prstGeom prst="rect">
            <a:avLst/>
          </a:prstGeom>
          <a:ln>
            <a:solidFill>
              <a:schemeClr val="accent1"/>
            </a:solidFill>
          </a:ln>
        </p:spPr>
      </p:pic>
      <p:pic>
        <p:nvPicPr>
          <p:cNvPr id="20" name="図 19">
            <a:extLst>
              <a:ext uri="{FF2B5EF4-FFF2-40B4-BE49-F238E27FC236}">
                <a16:creationId xmlns:a16="http://schemas.microsoft.com/office/drawing/2014/main" id="{774E37EA-2505-2484-B396-3A1F0CB6E240}"/>
              </a:ext>
            </a:extLst>
          </p:cNvPr>
          <p:cNvPicPr>
            <a:picLocks noChangeAspect="1"/>
          </p:cNvPicPr>
          <p:nvPr/>
        </p:nvPicPr>
        <p:blipFill>
          <a:blip r:embed="rId8"/>
          <a:stretch>
            <a:fillRect/>
          </a:stretch>
        </p:blipFill>
        <p:spPr>
          <a:xfrm>
            <a:off x="2213144" y="4701390"/>
            <a:ext cx="1691152" cy="2057817"/>
          </a:xfrm>
          <a:prstGeom prst="rect">
            <a:avLst/>
          </a:prstGeom>
          <a:ln>
            <a:solidFill>
              <a:schemeClr val="accent1"/>
            </a:solidFill>
          </a:ln>
        </p:spPr>
      </p:pic>
    </p:spTree>
    <p:extLst>
      <p:ext uri="{BB962C8B-B14F-4D97-AF65-F5344CB8AC3E}">
        <p14:creationId xmlns:p14="http://schemas.microsoft.com/office/powerpoint/2010/main" val="16470740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0EED3-D556-D22C-0C36-590C708A54B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B362790-8AE7-5E6E-4C27-7FF875BCA8C3}"/>
              </a:ext>
            </a:extLst>
          </p:cNvPr>
          <p:cNvSpPr>
            <a:spLocks noGrp="1"/>
          </p:cNvSpPr>
          <p:nvPr>
            <p:ph type="title"/>
          </p:nvPr>
        </p:nvSpPr>
        <p:spPr/>
        <p:txBody>
          <a:bodyPr/>
          <a:lstStyle/>
          <a:p>
            <a:r>
              <a:rPr kumimoji="1" lang="ja-JP" altLang="en-US" dirty="0"/>
              <a:t>成果物デモンストレーション</a:t>
            </a:r>
          </a:p>
        </p:txBody>
      </p:sp>
      <p:sp>
        <p:nvSpPr>
          <p:cNvPr id="3" name="タイトル 1">
            <a:extLst>
              <a:ext uri="{FF2B5EF4-FFF2-40B4-BE49-F238E27FC236}">
                <a16:creationId xmlns:a16="http://schemas.microsoft.com/office/drawing/2014/main" id="{8ED4E370-EFA4-A657-852F-C9EA2018F460}"/>
              </a:ext>
            </a:extLst>
          </p:cNvPr>
          <p:cNvSpPr txBox="1">
            <a:spLocks/>
          </p:cNvSpPr>
          <p:nvPr/>
        </p:nvSpPr>
        <p:spPr>
          <a:xfrm>
            <a:off x="512064" y="1728216"/>
            <a:ext cx="10168128" cy="1179576"/>
          </a:xfrm>
          <a:prstGeom prst="rect">
            <a:avLst/>
          </a:prstGeom>
        </p:spPr>
        <p:txBody>
          <a:bodyPr lIns="109728" tIns="109728" rIns="109728" bIns="91440" anchor="ctr">
            <a:normAutofit/>
          </a:bodyPr>
          <a:lstStyle>
            <a:lvl1pPr algn="l" defTabSz="914400" rtl="0" eaLnBrk="1" latinLnBrk="0" hangingPunct="1">
              <a:lnSpc>
                <a:spcPct val="105000"/>
              </a:lnSpc>
              <a:spcBef>
                <a:spcPct val="0"/>
              </a:spcBef>
              <a:buNone/>
              <a:defRPr sz="4000" kern="1200" spc="180">
                <a:solidFill>
                  <a:schemeClr val="tx1"/>
                </a:solidFill>
                <a:latin typeface="+mj-lt"/>
                <a:ea typeface="+mj-ea"/>
                <a:cs typeface="+mj-cs"/>
              </a:defRPr>
            </a:lvl1pPr>
          </a:lstStyle>
          <a:p>
            <a:r>
              <a:rPr kumimoji="1" lang="ja-JP" altLang="en-US" sz="3200" dirty="0"/>
              <a:t>社員一覧表示機能</a:t>
            </a:r>
          </a:p>
        </p:txBody>
      </p:sp>
      <p:pic>
        <p:nvPicPr>
          <p:cNvPr id="5" name="図 4">
            <a:extLst>
              <a:ext uri="{FF2B5EF4-FFF2-40B4-BE49-F238E27FC236}">
                <a16:creationId xmlns:a16="http://schemas.microsoft.com/office/drawing/2014/main" id="{CC9E5BE5-7D3D-6C35-E75B-C86343465C94}"/>
              </a:ext>
            </a:extLst>
          </p:cNvPr>
          <p:cNvPicPr>
            <a:picLocks noChangeAspect="1"/>
          </p:cNvPicPr>
          <p:nvPr/>
        </p:nvPicPr>
        <p:blipFill>
          <a:blip r:embed="rId2"/>
          <a:stretch>
            <a:fillRect/>
          </a:stretch>
        </p:blipFill>
        <p:spPr>
          <a:xfrm>
            <a:off x="512064" y="2653558"/>
            <a:ext cx="7881256" cy="4045810"/>
          </a:xfrm>
          <a:prstGeom prst="rect">
            <a:avLst/>
          </a:prstGeom>
        </p:spPr>
      </p:pic>
    </p:spTree>
    <p:extLst>
      <p:ext uri="{BB962C8B-B14F-4D97-AF65-F5344CB8AC3E}">
        <p14:creationId xmlns:p14="http://schemas.microsoft.com/office/powerpoint/2010/main" val="2199114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D79091-44EE-F723-5F46-8C489D7F1E0D}"/>
              </a:ext>
            </a:extLst>
          </p:cNvPr>
          <p:cNvSpPr>
            <a:spLocks noGrp="1"/>
          </p:cNvSpPr>
          <p:nvPr>
            <p:ph type="title"/>
          </p:nvPr>
        </p:nvSpPr>
        <p:spPr/>
        <p:txBody>
          <a:bodyPr/>
          <a:lstStyle/>
          <a:p>
            <a:r>
              <a:rPr kumimoji="1" lang="ja-JP" altLang="en-US" dirty="0"/>
              <a:t>得られた成果：困難を感じたこと</a:t>
            </a:r>
          </a:p>
        </p:txBody>
      </p:sp>
      <p:sp>
        <p:nvSpPr>
          <p:cNvPr id="3" name="コンテンツ プレースホルダー 2">
            <a:extLst>
              <a:ext uri="{FF2B5EF4-FFF2-40B4-BE49-F238E27FC236}">
                <a16:creationId xmlns:a16="http://schemas.microsoft.com/office/drawing/2014/main" id="{1D9DB047-2B27-56D3-85A3-DA36F8147DFC}"/>
              </a:ext>
            </a:extLst>
          </p:cNvPr>
          <p:cNvSpPr>
            <a:spLocks noGrp="1"/>
          </p:cNvSpPr>
          <p:nvPr>
            <p:ph idx="1"/>
          </p:nvPr>
        </p:nvSpPr>
        <p:spPr>
          <a:xfrm>
            <a:off x="597408" y="2100072"/>
            <a:ext cx="11204448" cy="3767328"/>
          </a:xfrm>
        </p:spPr>
        <p:txBody>
          <a:bodyPr/>
          <a:lstStyle/>
          <a:p>
            <a:r>
              <a:rPr kumimoji="1" lang="ja-JP" altLang="en-US" sz="2300" dirty="0"/>
              <a:t>変数名やプロパティ名、引数の概念を理解するのが難しかった</a:t>
            </a:r>
            <a:endParaRPr kumimoji="1" lang="en-US" altLang="ja-JP" sz="2300" dirty="0"/>
          </a:p>
          <a:p>
            <a:pPr marL="0" indent="0">
              <a:buNone/>
            </a:pPr>
            <a:r>
              <a:rPr kumimoji="1" lang="ja-JP" altLang="en-US" sz="2000" dirty="0"/>
              <a:t>　　　　　　</a:t>
            </a:r>
            <a:r>
              <a:rPr kumimoji="1" lang="en-US" altLang="ja-JP" sz="2000" dirty="0"/>
              <a:t>(</a:t>
            </a:r>
            <a:r>
              <a:rPr kumimoji="1" lang="en-US" altLang="ja-JP" sz="2000" dirty="0" err="1"/>
              <a:t>Name,name,Id,id,DeptName,EmpName,DeptId,EmpId</a:t>
            </a:r>
            <a:r>
              <a:rPr kumimoji="1" lang="ja-JP" altLang="en-US" sz="2000" dirty="0"/>
              <a:t>など</a:t>
            </a:r>
            <a:r>
              <a:rPr kumimoji="1" lang="en-US" altLang="ja-JP" sz="2000" dirty="0"/>
              <a:t>…)</a:t>
            </a:r>
          </a:p>
          <a:p>
            <a:pPr marL="0" indent="0">
              <a:buNone/>
            </a:pPr>
            <a:r>
              <a:rPr kumimoji="1" lang="ja-JP" altLang="en-US" sz="2300" dirty="0"/>
              <a:t>・全体像が見えない状態で講義が進むため、その時自分が学んでいる内容が</a:t>
            </a:r>
            <a:endParaRPr kumimoji="1" lang="en-US" altLang="ja-JP" sz="2300" dirty="0"/>
          </a:p>
          <a:p>
            <a:pPr marL="0" indent="0">
              <a:buNone/>
            </a:pPr>
            <a:r>
              <a:rPr kumimoji="1" lang="ja-JP" altLang="en-US" sz="2300" dirty="0"/>
              <a:t>どう役に立つのかを把握するのが難しかった</a:t>
            </a:r>
            <a:endParaRPr kumimoji="1" lang="en-US" altLang="ja-JP" sz="2300" dirty="0"/>
          </a:p>
          <a:p>
            <a:pPr marL="0" indent="0">
              <a:buNone/>
            </a:pPr>
            <a:r>
              <a:rPr kumimoji="1" lang="ja-JP" altLang="en-US" sz="2300" dirty="0"/>
              <a:t>・自分が今何をしているのかを理解していないまま手を動かしていた時間も</a:t>
            </a:r>
            <a:endParaRPr kumimoji="1" lang="en-US" altLang="ja-JP" sz="2300" dirty="0"/>
          </a:p>
          <a:p>
            <a:pPr marL="0" indent="0">
              <a:buNone/>
            </a:pPr>
            <a:r>
              <a:rPr kumimoji="1" lang="ja-JP" altLang="en-US" sz="2300" dirty="0"/>
              <a:t>あったためエラーで講師に質問したいときに状況説明が上手にできなかった</a:t>
            </a:r>
            <a:endParaRPr kumimoji="1" lang="en-US" altLang="ja-JP" sz="2300" dirty="0"/>
          </a:p>
          <a:p>
            <a:pPr marL="0" indent="0">
              <a:buNone/>
            </a:pPr>
            <a:endParaRPr kumimoji="1" lang="en-US" altLang="ja-JP" sz="2300" dirty="0"/>
          </a:p>
          <a:p>
            <a:pPr marL="0" indent="0">
              <a:buNone/>
            </a:pPr>
            <a:endParaRPr kumimoji="1" lang="en-US" altLang="ja-JP" sz="2300" dirty="0"/>
          </a:p>
        </p:txBody>
      </p:sp>
    </p:spTree>
    <p:extLst>
      <p:ext uri="{BB962C8B-B14F-4D97-AF65-F5344CB8AC3E}">
        <p14:creationId xmlns:p14="http://schemas.microsoft.com/office/powerpoint/2010/main" val="33436741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9A1706-0193-2600-3B42-DD5B03F7967E}"/>
              </a:ext>
            </a:extLst>
          </p:cNvPr>
          <p:cNvSpPr>
            <a:spLocks noGrp="1"/>
          </p:cNvSpPr>
          <p:nvPr>
            <p:ph type="title"/>
          </p:nvPr>
        </p:nvSpPr>
        <p:spPr/>
        <p:txBody>
          <a:bodyPr/>
          <a:lstStyle/>
          <a:p>
            <a:r>
              <a:rPr kumimoji="1" lang="ja-JP" altLang="en-US" dirty="0"/>
              <a:t>得られた成果：成長＆反省点</a:t>
            </a:r>
          </a:p>
        </p:txBody>
      </p:sp>
      <p:sp>
        <p:nvSpPr>
          <p:cNvPr id="5" name="コンテンツ プレースホルダー 2">
            <a:extLst>
              <a:ext uri="{FF2B5EF4-FFF2-40B4-BE49-F238E27FC236}">
                <a16:creationId xmlns:a16="http://schemas.microsoft.com/office/drawing/2014/main" id="{E129CC95-A5A7-3A52-846D-AB506D1C2F2D}"/>
              </a:ext>
            </a:extLst>
          </p:cNvPr>
          <p:cNvSpPr txBox="1">
            <a:spLocks/>
          </p:cNvSpPr>
          <p:nvPr/>
        </p:nvSpPr>
        <p:spPr>
          <a:xfrm>
            <a:off x="677101" y="2071212"/>
            <a:ext cx="12575603" cy="4520120"/>
          </a:xfrm>
          <a:prstGeom prst="rect">
            <a:avLst/>
          </a:prstGeom>
        </p:spPr>
        <p:txBody>
          <a:bodyPr lIns="109728" tIns="109728" rIns="109728" bIns="91440"/>
          <a:lstStyle>
            <a:lvl1pPr marL="228600" indent="-228600" algn="l" defTabSz="914400" rtl="0" eaLnBrk="1" latinLnBrk="0" hangingPunct="1">
              <a:lnSpc>
                <a:spcPct val="120000"/>
              </a:lnSpc>
              <a:spcBef>
                <a:spcPts val="1000"/>
              </a:spcBef>
              <a:buFont typeface="Arial" panose="020B0604020202020204" pitchFamily="34" charset="0"/>
              <a:buChar char="•"/>
              <a:defRPr sz="2600" kern="1200" spc="15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200" kern="1200" spc="15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kern="1200" spc="15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spc="15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spc="15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kumimoji="1" lang="ja-JP" altLang="en-US" sz="2300" dirty="0"/>
              <a:t>・日報を書く中で、些細なことであっても日々知識を得て</a:t>
            </a:r>
            <a:endParaRPr kumimoji="1" lang="en-US" altLang="ja-JP" sz="2300" dirty="0"/>
          </a:p>
          <a:p>
            <a:pPr marL="0" indent="0">
              <a:buFont typeface="Arial" panose="020B0604020202020204" pitchFamily="34" charset="0"/>
              <a:buNone/>
            </a:pPr>
            <a:r>
              <a:rPr kumimoji="1" lang="ja-JP" altLang="en-US" sz="2300" dirty="0"/>
              <a:t>成長していることを実感できた</a:t>
            </a:r>
            <a:endParaRPr kumimoji="1" lang="en-US" altLang="ja-JP" sz="2300" dirty="0"/>
          </a:p>
          <a:p>
            <a:pPr marL="0" indent="0">
              <a:buFont typeface="Arial" panose="020B0604020202020204" pitchFamily="34" charset="0"/>
              <a:buNone/>
            </a:pPr>
            <a:r>
              <a:rPr kumimoji="1" lang="ja-JP" altLang="en-US" sz="2300" dirty="0"/>
              <a:t>・つまずいた箇所を分析することで、自分の理解が足りていない箇所と、</a:t>
            </a:r>
            <a:endParaRPr kumimoji="1" lang="en-US" altLang="ja-JP" sz="2300" dirty="0"/>
          </a:p>
          <a:p>
            <a:pPr marL="0" indent="0">
              <a:buFont typeface="Arial" panose="020B0604020202020204" pitchFamily="34" charset="0"/>
              <a:buNone/>
            </a:pPr>
            <a:r>
              <a:rPr kumimoji="1" lang="ja-JP" altLang="en-US" sz="2300" dirty="0"/>
              <a:t>それがなぜ難しいかを把握することができた</a:t>
            </a:r>
            <a:endParaRPr kumimoji="1" lang="en-US" altLang="ja-JP" sz="2300" dirty="0"/>
          </a:p>
          <a:p>
            <a:pPr marL="0" indent="0">
              <a:buFont typeface="Arial" panose="020B0604020202020204" pitchFamily="34" charset="0"/>
              <a:buNone/>
            </a:pPr>
            <a:r>
              <a:rPr kumimoji="1" lang="ja-JP" altLang="en-US" sz="2300" dirty="0"/>
              <a:t>・講師にサポートをしていただく時に、上手に状況説明ができず、</a:t>
            </a:r>
            <a:endParaRPr kumimoji="1" lang="en-US" altLang="ja-JP" sz="2300" dirty="0"/>
          </a:p>
          <a:p>
            <a:pPr marL="0" indent="0">
              <a:buFont typeface="Arial" panose="020B0604020202020204" pitchFamily="34" charset="0"/>
              <a:buNone/>
            </a:pPr>
            <a:r>
              <a:rPr kumimoji="1" lang="ja-JP" altLang="en-US" sz="2300" dirty="0"/>
              <a:t>自分がどこまで理解できてどこでつまずいているのかを説明できなかった</a:t>
            </a:r>
            <a:endParaRPr kumimoji="1" lang="en-US" altLang="ja-JP" sz="2300" dirty="0"/>
          </a:p>
          <a:p>
            <a:pPr marL="0" indent="0">
              <a:buFont typeface="Arial" panose="020B0604020202020204" pitchFamily="34" charset="0"/>
              <a:buNone/>
            </a:pPr>
            <a:r>
              <a:rPr kumimoji="1" lang="ja-JP" altLang="en-US" sz="2300" dirty="0"/>
              <a:t>・スケジュールを立てるときに自分の力量を見誤っていた</a:t>
            </a:r>
            <a:endParaRPr kumimoji="1" lang="en-US" altLang="ja-JP" sz="2300" dirty="0"/>
          </a:p>
          <a:p>
            <a:pPr marL="0" indent="0">
              <a:buFont typeface="Arial" panose="020B0604020202020204" pitchFamily="34" charset="0"/>
              <a:buNone/>
            </a:pPr>
            <a:r>
              <a:rPr kumimoji="1" lang="ja-JP" altLang="en-US" sz="2300" dirty="0"/>
              <a:t>・逆算してタスクの整理をしたつもりだったが、それでも拾い損ねていた</a:t>
            </a:r>
            <a:endParaRPr kumimoji="1" lang="en-US" altLang="ja-JP" sz="2300" dirty="0"/>
          </a:p>
        </p:txBody>
      </p:sp>
    </p:spTree>
    <p:extLst>
      <p:ext uri="{BB962C8B-B14F-4D97-AF65-F5344CB8AC3E}">
        <p14:creationId xmlns:p14="http://schemas.microsoft.com/office/powerpoint/2010/main" val="2907603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5C206-2342-F656-5CF6-7E135A978D3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05C3756-E55C-2996-135E-0F0DD31A2641}"/>
              </a:ext>
            </a:extLst>
          </p:cNvPr>
          <p:cNvSpPr>
            <a:spLocks noGrp="1"/>
          </p:cNvSpPr>
          <p:nvPr>
            <p:ph type="title"/>
          </p:nvPr>
        </p:nvSpPr>
        <p:spPr/>
        <p:txBody>
          <a:bodyPr/>
          <a:lstStyle/>
          <a:p>
            <a:r>
              <a:rPr kumimoji="1" lang="ja-JP" altLang="en-US" dirty="0"/>
              <a:t>得られた成果：技術者として必要なこと</a:t>
            </a:r>
          </a:p>
        </p:txBody>
      </p:sp>
      <p:sp>
        <p:nvSpPr>
          <p:cNvPr id="5" name="コンテンツ プレースホルダー 2">
            <a:extLst>
              <a:ext uri="{FF2B5EF4-FFF2-40B4-BE49-F238E27FC236}">
                <a16:creationId xmlns:a16="http://schemas.microsoft.com/office/drawing/2014/main" id="{9BAB5B91-67A1-65C4-8386-5F90BCEDE5A5}"/>
              </a:ext>
            </a:extLst>
          </p:cNvPr>
          <p:cNvSpPr txBox="1">
            <a:spLocks/>
          </p:cNvSpPr>
          <p:nvPr/>
        </p:nvSpPr>
        <p:spPr>
          <a:xfrm>
            <a:off x="347917" y="2022444"/>
            <a:ext cx="12575603" cy="4520120"/>
          </a:xfrm>
          <a:prstGeom prst="rect">
            <a:avLst/>
          </a:prstGeom>
        </p:spPr>
        <p:txBody>
          <a:bodyPr lIns="109728" tIns="109728" rIns="109728" bIns="91440"/>
          <a:lstStyle>
            <a:lvl1pPr marL="228600" indent="-228600" algn="l" defTabSz="914400" rtl="0" eaLnBrk="1" latinLnBrk="0" hangingPunct="1">
              <a:lnSpc>
                <a:spcPct val="120000"/>
              </a:lnSpc>
              <a:spcBef>
                <a:spcPts val="1000"/>
              </a:spcBef>
              <a:buFont typeface="Arial" panose="020B0604020202020204" pitchFamily="34" charset="0"/>
              <a:buChar char="•"/>
              <a:defRPr sz="2600" kern="1200" spc="15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200" kern="1200" spc="15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kern="1200" spc="15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spc="15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spc="15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kumimoji="1" lang="ja-JP" altLang="en-US" sz="4000" dirty="0"/>
              <a:t>・情報共有能力</a:t>
            </a:r>
            <a:endParaRPr kumimoji="1" lang="en-US" altLang="ja-JP" sz="4000" dirty="0"/>
          </a:p>
          <a:p>
            <a:pPr marL="0" indent="0">
              <a:buFont typeface="Arial" panose="020B0604020202020204" pitchFamily="34" charset="0"/>
              <a:buNone/>
            </a:pPr>
            <a:r>
              <a:rPr kumimoji="1" lang="ja-JP" altLang="en-US" sz="1600" dirty="0"/>
              <a:t>　　　　自分の現状を言葉で、そしてコンピュータ上でリモートに適切な形式で共有する</a:t>
            </a:r>
            <a:endParaRPr kumimoji="1" lang="en-US" altLang="ja-JP" sz="1600" dirty="0"/>
          </a:p>
          <a:p>
            <a:pPr marL="0" indent="0">
              <a:buFont typeface="Arial" panose="020B0604020202020204" pitchFamily="34" charset="0"/>
              <a:buNone/>
            </a:pPr>
            <a:r>
              <a:rPr kumimoji="1" lang="ja-JP" altLang="en-US" sz="4000" dirty="0"/>
              <a:t>・情報整理能力</a:t>
            </a:r>
            <a:endParaRPr kumimoji="1" lang="en-US" altLang="ja-JP" sz="4000" dirty="0"/>
          </a:p>
          <a:p>
            <a:pPr marL="0" indent="0">
              <a:buFont typeface="Arial" panose="020B0604020202020204" pitchFamily="34" charset="0"/>
              <a:buNone/>
            </a:pPr>
            <a:r>
              <a:rPr kumimoji="1" lang="ja-JP" altLang="en-US" sz="1400" dirty="0"/>
              <a:t>　　　　</a:t>
            </a:r>
            <a:r>
              <a:rPr kumimoji="1" lang="ja-JP" altLang="en-US" sz="1600" dirty="0"/>
              <a:t>複数のファイルをまたいで変換されている情報の相関関係、自分がしなければならないタスクの整理をする</a:t>
            </a:r>
            <a:endParaRPr kumimoji="1" lang="en-US" altLang="ja-JP" sz="1600" dirty="0"/>
          </a:p>
          <a:p>
            <a:pPr marL="0" indent="0">
              <a:buFont typeface="Arial" panose="020B0604020202020204" pitchFamily="34" charset="0"/>
              <a:buNone/>
            </a:pPr>
            <a:r>
              <a:rPr kumimoji="1" lang="ja-JP" altLang="en-US" sz="4000" dirty="0"/>
              <a:t>・感謝と敬意</a:t>
            </a:r>
            <a:endParaRPr kumimoji="1" lang="en-US" altLang="ja-JP" sz="4000" dirty="0"/>
          </a:p>
          <a:p>
            <a:pPr marL="0" indent="0">
              <a:buFont typeface="Arial" panose="020B0604020202020204" pitchFamily="34" charset="0"/>
              <a:buNone/>
            </a:pPr>
            <a:r>
              <a:rPr kumimoji="1" lang="ja-JP" altLang="en-US" sz="1600" dirty="0"/>
              <a:t>　　　互いに気分よく仕事をするために、感謝の気持ちを持って人と関わる</a:t>
            </a:r>
            <a:endParaRPr kumimoji="1" lang="en-US" altLang="ja-JP" sz="1600" dirty="0"/>
          </a:p>
          <a:p>
            <a:pPr marL="0" indent="0">
              <a:buFont typeface="Arial" panose="020B0604020202020204" pitchFamily="34" charset="0"/>
              <a:buNone/>
            </a:pPr>
            <a:endParaRPr kumimoji="1" lang="en-US" altLang="ja-JP" sz="1200" dirty="0"/>
          </a:p>
        </p:txBody>
      </p:sp>
    </p:spTree>
    <p:extLst>
      <p:ext uri="{BB962C8B-B14F-4D97-AF65-F5344CB8AC3E}">
        <p14:creationId xmlns:p14="http://schemas.microsoft.com/office/powerpoint/2010/main" val="1637673544"/>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Meiryo"/>
        <a:ea typeface=""/>
        <a:cs typeface=""/>
      </a:majorFont>
      <a:minorFont>
        <a:latin typeface="Meiry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F53224CB4AB7E84C876E95102DDD2B7D" ma:contentTypeVersion="4" ma:contentTypeDescription="新しいドキュメントを作成します。" ma:contentTypeScope="" ma:versionID="341b165d7395d9e1ee8f0503b074b01e">
  <xsd:schema xmlns:xsd="http://www.w3.org/2001/XMLSchema" xmlns:xs="http://www.w3.org/2001/XMLSchema" xmlns:p="http://schemas.microsoft.com/office/2006/metadata/properties" xmlns:ns3="35ae0af6-260d-49f6-9ae2-0fef1c1b6caa" targetNamespace="http://schemas.microsoft.com/office/2006/metadata/properties" ma:root="true" ma:fieldsID="5f4d16edb58affd9be284592f237857a" ns3:_="">
    <xsd:import namespace="35ae0af6-260d-49f6-9ae2-0fef1c1b6ca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ae0af6-260d-49f6-9ae2-0fef1c1b6ca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2023245-C13F-4DFD-B519-F6A46E3308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5ae0af6-260d-49f6-9ae2-0fef1c1b6ca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F2E24DA-A9B4-446E-89AE-DFDAE105F25B}">
  <ds:schemaRefs>
    <ds:schemaRef ds:uri="http://schemas.microsoft.com/sharepoint/v3/contenttype/forms"/>
  </ds:schemaRefs>
</ds:datastoreItem>
</file>

<file path=customXml/itemProps3.xml><?xml version="1.0" encoding="utf-8"?>
<ds:datastoreItem xmlns:ds="http://schemas.openxmlformats.org/officeDocument/2006/customXml" ds:itemID="{AFE6BB3D-F328-4674-B5C9-51EE51B5BA0F}">
  <ds:schemaRefs>
    <ds:schemaRef ds:uri="http://schemas.openxmlformats.org/package/2006/metadata/core-properties"/>
    <ds:schemaRef ds:uri="http://purl.org/dc/dcmitype/"/>
    <ds:schemaRef ds:uri="http://schemas.microsoft.com/office/2006/metadata/properties"/>
    <ds:schemaRef ds:uri="http://purl.org/dc/elements/1.1/"/>
    <ds:schemaRef ds:uri="http://schemas.microsoft.com/office/2006/documentManagement/types"/>
    <ds:schemaRef ds:uri="http://schemas.microsoft.com/office/infopath/2007/PartnerControls"/>
    <ds:schemaRef ds:uri="http://www.w3.org/XML/1998/namespace"/>
    <ds:schemaRef ds:uri="35ae0af6-260d-49f6-9ae2-0fef1c1b6caa"/>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435</TotalTime>
  <Words>1133</Words>
  <Application>Microsoft Office PowerPoint</Application>
  <PresentationFormat>ワイド画面</PresentationFormat>
  <Paragraphs>230</Paragraphs>
  <Slides>23</Slides>
  <Notes>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23</vt:i4>
      </vt:variant>
    </vt:vector>
  </HeadingPairs>
  <TitlesOfParts>
    <vt:vector size="28" baseType="lpstr">
      <vt:lpstr>Meiryo</vt:lpstr>
      <vt:lpstr>游ゴシック</vt:lpstr>
      <vt:lpstr>Arial</vt:lpstr>
      <vt:lpstr>Calibri</vt:lpstr>
      <vt:lpstr>AccentBoxVTI</vt:lpstr>
      <vt:lpstr>Web開発演習 成果発表プレゼンテーション</vt:lpstr>
      <vt:lpstr>目次</vt:lpstr>
      <vt:lpstr>開発概要</vt:lpstr>
      <vt:lpstr>開発概要</vt:lpstr>
      <vt:lpstr>開発スケジュール：当初の予定</vt:lpstr>
      <vt:lpstr>開発スケジュール：実際の結果</vt:lpstr>
      <vt:lpstr>開発スケジュール：進捗報告</vt:lpstr>
      <vt:lpstr>開発スケジュール：進捗報告</vt:lpstr>
      <vt:lpstr>開発スケジュール：進捗報告</vt:lpstr>
      <vt:lpstr>開発スケジュール：進捗報告</vt:lpstr>
      <vt:lpstr>開発スケジュール：進捗報告</vt:lpstr>
      <vt:lpstr>開発スケジュール：進捗報告</vt:lpstr>
      <vt:lpstr>開発スケジュール：実際の結果</vt:lpstr>
      <vt:lpstr>成果物</vt:lpstr>
      <vt:lpstr>PowerPoint プレゼンテーション</vt:lpstr>
      <vt:lpstr>成果物デモンストレーション</vt:lpstr>
      <vt:lpstr>成果物デモンストレーション</vt:lpstr>
      <vt:lpstr>成果物デモンストレーション</vt:lpstr>
      <vt:lpstr>成果物デモンストレーション</vt:lpstr>
      <vt:lpstr>成果物デモンストレーション</vt:lpstr>
      <vt:lpstr>得られた成果：困難を感じたこと</vt:lpstr>
      <vt:lpstr>得られた成果：成長＆反省点</vt:lpstr>
      <vt:lpstr>得られた成果：技術者として必要なこと</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opnewemp015</dc:creator>
  <cp:lastModifiedBy>opnewemp015</cp:lastModifiedBy>
  <cp:revision>1</cp:revision>
  <dcterms:created xsi:type="dcterms:W3CDTF">2026-05-28T00:46:39Z</dcterms:created>
  <dcterms:modified xsi:type="dcterms:W3CDTF">2026-05-28T08:02:09Z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0x010100F53224CB4AB7E84C876E95102DDD2B7D</vt:lpwstr>
  </property>
</Properties>
</file>